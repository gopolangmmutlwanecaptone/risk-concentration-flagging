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3969" autoAdjust="0"/>
  </p:normalViewPr>
  <p:slideViewPr>
    <p:cSldViewPr snapToGrid="0" snapToObjects="1">
      <p:cViewPr varScale="1">
        <p:scale>
          <a:sx n="69" d="100"/>
          <a:sy n="69" d="100"/>
        </p:scale>
        <p:origin x="756"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404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2011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0:30. ON CAMERA. Show your face here. Say your name, the module and the client in one breath, then go straight to the problem. The study guide suggests a short, punchy opener, so consider a 10-second teaser clip before this slide: for example, show the one-line result "2 of 2 flagged clients caught on unseen data" and then cut to you. Suggested words (put them in your own voice): "Hello, I'm Gopolang Mmutlwane. This is my CAP182 capstone for STADIOEquities, a digital investment platform. I'll show you how we can spot clients who are dangerously concentrated in one stock, before they lose money." Business: keep it warm and plain. Expert: no jargon needed yet.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0:55. Section: Introduction. Start with the real-world problem, not the data or the algorithm (study guide tip). Say, in your own words: today STADIOEquities usually finds out a client was over-concentrated when the client has already lost money and complained. The project asks: can we spot those clients earlier? Walk the four steps quickly, about 10 seconds each. Pause on the gold bar and read the objective. Business: this is the "why it matters" slide. The company protects clients from themselves, and a complaint is a late signal. Expert: the formal problem statement is how to model concentration-amplified loss risk, using measures such as the Herfindahl-Hirschman Index (HHI), top-holding percentage, number of holdings and sector exposure.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0:40. One sentence per stage. This slide gives the assessor the "breadth of SS1, SS2 and SS3" the brief asks for, and sets up the story: define, prove, apply. Talking points: in SS1 we defined the problem and the data we would need. In SS2, before we had client data, we proved the idea on public SEC holdings data and chose a model. In SS3 we applied that model to the STADIOEquities client extract. Do not linger. The detail comes on the next slides. Business: you are showing a structured, step-by-step project. Expert: the SS2 comparison used a time-based split, and SS3 retrains the same model family with different hyperparameters.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0:45. Section: Data overview. Keep it high level. Talking points: in SS2 we used public SEC Form 13F holdings as a stand-in for client data: about 20 thousand institution-quarter rows, of which 846 were labelled high-risk. In SS3 we received a synthetic extract for 418 STADIOEquities clients across four tables. 17 clients are flagged by our rule. Name the key variables once. Then state the limits plainly: 13F describes institutions, not individual retail clients, and the client extract is synthetic and small. Saying this early builds trust with the expert audience. Facts to have ready: SS2 test set is 5,093 rows with 114 positives. SS3 split is stratified 70/15/15 into 292, 63 and 63 clients, with 12, 3 and 2 flagged clients.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0:50. Section: Data preparation. Say what was done and why it matters, not the code. SS2 talking points: raw 13F files only show a value in the month a filing appeared, so values were carried forward to build a continuous history. Securities were matched to tickers to get prices; about two-thirds could not be matched, most likely because they were delisted or acquired. And 42.5% of matched tickers had no usable price history. That matters: the securities most likely to fail are also the ones most likely to cause losses, so the results may understate risk. SS3 talking points: six features per client, the flag definition, and client IDs kept out of anything displayed. Expert: the flag is stated risk appetite = Low AND HHI above the 75th percentile (0.250). Forward-fill treats zeros as missing, so a genuine exit to zero cannot be recorded. Mention this only if asked, or on the limitations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0:55. Section: Mathematical framework (a short version of Section 4 of your report). Aimed at the data science audience, but say each line in plain words so business viewers keep up. Do not derive anything; point at each formula and say what it means. Card 1, concentration: HHI is the sum of the squared portfolio weights. A weight is the share of the portfolio in one holding. 1 means everything is in one stock. The reciprocal 1/HHI is the effective number of holdings: an HHI of 0.25 behaves like four equally weighted stocks. Card 2, why two features overlap: the largest weight squared is never more than HHI, and HHI is never more than the largest weight. When one holding dominates, both bounds meet, so HHI and top-holding weight carry almost the same signal (correlation 0.96 in the public data). That makes the individual Logistic Regression weights unstable, which is why a strong penalty was needed, but it does not trouble tree models like XGBoost. Do not over-read how importance splits between the two. Card 3, the SS2 label: the excess return is each holding's return minus the S&amp;P 500 return, weighted by the holding's share. A portfolio is labelled high risk if that excess return is below minus 5 percent. Because it is weighted, concentration matters mechanically: a 40 percent fall costs a portfolio with an 80 percent holding 32 points, but one with a 2 percent holding less than 1 point. Returns start 45 days after quarter-end, when filings become public, to avoid look-ahead. The threshold of minus 5 percent was chosen empirically: minus 15 percent flagged only 0.6 percent of portfolios, too few to train on, and minus 5 percent gives the 846 positives (4.2 percent). Bottom bar: the SS3 flag is defined directly from stated appetite and HHI. We checked the flag against the complaint records and found no relationship with concentration (Mann-Whitney p = 0.738 for HHI), so it stays a business-defined rule.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 Section: Exploratory analysis and key insights. Graph 1 of 3 (your own notebook chart, hhi_by_risk_appetite.png from SS3_PartB/charts). The study guide asks for 2 to 3 key graphs in the whole talk. How to read the chart: each box is the spread of portfolio concentration (HHI) for clients who state a Low, Moderate or High risk appetite. The middle line is the median. Median concentration rises only slightly from Low to High, and the dots are unusually concentrated clients. Some Low-appetite clients sit at HHI near 1.0, which means a single holding. Talking points: 106 of the 418 clients state a Low risk appetite. 17 of those are also in the most concentrated quarter of clients (HHI above 0.25), so 17 clients, 4.07%, are flagged: people who say they want low risk but hold very concentrated portfolios. We also checked whether clients who complained were more concentrated. They were not, measurably (Mann-Whitney p = 0.74 for HHI, 0.84 for top holding), so the flag is a business rule, not a model of complaints. Expert extra: in the public SS2 data, HHI and top holding together carry about 77% of XGBoost's importance (model2_feature_importance.png), but they are correlated at 0.96 and the split between them depends on the column-sampling setting, so do not over-read the individual shares. In the SS3 model, num_holdings ranks first, then HHI and top holding.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0:55. Section: Model or method. Plain language, no equations. Talking points: - Same data, same time-based split: train on earlier quarters, test on later ones. - Logistic Regression is a weighted scorecard: simple and explainable. - XGBoost builds many small decision trees, each correcting the last. - Why XGBoost: in this problem, missing a truly at-risk client is worse than a false alarm that costs a conversation. Expert: Model 1 used C = 0.001 for a correctly-signed HHI coefficient, with class_weight balanced. Model 2 final settings: learning rate 0.01, 50 estimators, depth 3, subsample 0.7, column sample 0.7, scale_pos_weight for the imbalance. Hyperparameters were tuned with TimeSeriesSplit cross-validation; the folds follow row order (institution then quarter), so they are not strictly chronological. Say so if asked.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1:00. Section: Results and interpretation (SS2). This is graph 2 of the 3 key graphs. Business talking points: - On later quarters the models had not seen, XGBoost caught 107 of the 114 truly at-risk portfolios; Logistic Regression caught 89. - The cost is more false alarms, 1,044 against 586. An uncaught at-risk client is the bigger problem, so we recommended XGBoost. Expert talking points: - Ranking skill (ROC-AUC) is statistically a tie: 0.921 versus 0.926, DeLong p = 0.21. - McNemar's test is significant, but the disagreements are lopsided in Model 1's favour: Model 1 right and Model 2 wrong on 460 rows, the reverse on 20. That reflects Model 2's extra false positives. McNemar compares overall correctness, so it says nothing about recall; the recall advantage (0.94 versus 0.78) is a separate result. - Accuracy was 0.88 (Model 1) and 0.79 (Model 2). XGBoost trades precision for recall; say so plainly. Test set: 5,093 institution-quarter rows with 114 positives. Chart: your own model_comparison.png from reports/charts.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1:30. Section: Results and interpretation (SS3). This is graph 3 of the 3 key graphs. Charts: your own ROC curves and test confusion matrix from SS3_PartB/charts (results_evaluation.png). Business talking points: - XGBoost applied to the 418 clients. On clients it had never seen, it caught both flagged clients in the test set, with five false alarms among the 61 others. In validation it caught one of three. Expert talking points: - ROC-AUC 0.856 on validation and 0.951 on test, against 0.999 on training. Precision 0.17 on validation and 0.29 on test. - Validation and test hold only 3 and 2 flagged clients, so one client changes the picture. - Structural reason for modest precision: HHI is both a feature and half of the flag definition, and the model does not see stated risk appetite, so it ranks clients by concentration rather than by the full flag. Be ready for a question about the missed client: client 174 holds a single stock (HHI 1.0) and was not flagged. The cause was not tested, so say so. Split: 292 training clients (12 flagged), 63 validation (3), 63 test (2), stratified 70/15/15. Optional: show your own results_evaluation chart from SS3_PartB/charts instead. Rule comparison (added after the notebook baseline): flagging every client above the HHI threshold (105 of 418) catches all 17 flagged clients by construction, with precision 0.16. In validation the rule caught 3 of 3 with 17 clients flagged, against 1 of 3 with 6 flagged for the model. In test both caught 2 of 2, with 16 flagged for the rule and 7 for the model. Repeated stratified 5-fold cross-validation (5 repeats) on all 418 clients: mean ROC-AUC 0.887 for the model and 0.895 for HHI alone; at a 0.5 cut-off the model caught 46% of positives (precision 0.19) against 100% for the rule (precision 0.16). Say it plainly: on this label the model does not beat the rule, because the label is built from HHI and stated appetite and the model cannot see appetite. The differences are within noise, so do not claim HHI is better, only that they are indistinguishable.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 Section: Recommendations and conclusion. THESE ARE A DRAFT: change them to your own judgement before recording. Talking points: - Start with the simple rule: flag clients above the HHI threshold. It catches every flagged client, is transparent and easy to explain to the client service team. - Use the model only as a second opinion to rank clients within that group. On this label it did no better than HHI alone (ROC-AUC 0.887 against 0.895), so it should never be an automatic decision. - Collect real outcomes: the label is a business definition and complaints did not validate it (p = 0.74). A model is only likely to add value once the label reflects losses or complaints. - Guide before a loss, for example a diversification prompt or a call, and agree the thresholds with the business and track results. Expert: this follows from Section 8.5 of the report. HHI is both a feature and half of the label, so the model re-learns the rule. The next steps are an outcome-based label and a larger sample.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0:50. Section: Recommendations and conclusion (limitations and possible improvements). Aimed at the data science expert audience. Stating limits honestly is a strength, and the study guide's advice for hard questions is to acknowledge limits and suggest improvements. Talking points: - Data: the client extract is synthetic and small; SEC data is institutions, not retail clients; some securities had no price history. - Method: HHI is both a feature and half of the flag; complaints did not validate the flag; SS2 cross-validation was not chronological and the test set informed some modelling choices, so reported test metrics may be somewhat optimistic. - Possible improvements: more flagged clients and real outcomes, chronological cross-validation, a test set used only once, and validating the flag against actual losses. These limits are also recorded in the repository README under Known Limitations.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CAMERA. About 0:30. Talking points (use your own words): - One-breath summary: framed the problem with STADIOEquities, chose XGBoost on evidence from public data, applied it to the client extract, where a simple HHI rule turned out to be as good a screen as the model, so a model will only add value once there are real outcomes to learn from. - What it adds: a reproducible path from public data to a client flagging model, with its limits stated openly. - Point to the repository and thank the viewer. Total talk time across all slides is about 11:35. Practise with a timer; the brief requires 10 to 12 minutes, so leave slack at both ends.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64921"/>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4202F"/>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978661"/>
            <a:ext cx="10566400" cy="4066539"/>
          </a:xfrm>
          <a:prstGeom prst="rect">
            <a:avLst/>
          </a:prstGeom>
          <a:noFill/>
          <a:ln/>
        </p:spPr>
        <p:txBody>
          <a:bodyPr wrap="square" lIns="0" tIns="0" rIns="0" bIns="0" rtlCol="0" anchor="t"/>
          <a:lstStyle>
            <a:lvl1pPr marL="0" indent="0" algn="l">
              <a:lnSpc>
                <a:spcPct val="140000"/>
              </a:lnSpc>
              <a:buNone/>
              <a:defRPr lang="en-US" sz="1600" dirty="0">
                <a:solidFill>
                  <a:srgbClr val="14202F"/>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64921"/>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4202F"/>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978661"/>
            <a:ext cx="10566400" cy="4066539"/>
          </a:xfrm>
          <a:prstGeom prst="rect">
            <a:avLst/>
          </a:prstGeom>
          <a:noFill/>
          <a:ln/>
        </p:spPr>
        <p:txBody>
          <a:bodyPr wrap="square" lIns="0" tIns="0" rIns="0" bIns="0" rtlCol="0" anchor="t"/>
          <a:lstStyle>
            <a:lvl1pPr marL="0" indent="0" algn="l">
              <a:lnSpc>
                <a:spcPct val="140000"/>
              </a:lnSpc>
              <a:buNone/>
              <a:defRPr lang="en-US" sz="1600" dirty="0">
                <a:solidFill>
                  <a:srgbClr val="14202F"/>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6FD0CB"/>
                </a:solidFill>
                <a:latin typeface="Public Sans" pitchFamily="34" charset="0"/>
                <a:ea typeface="Public Sans" pitchFamily="34" charset="-122"/>
                <a:cs typeface="Public Sans" pitchFamily="34" charset="-120"/>
              </a:rPr>
              <a:t>CAP182 CAPSTONE · POSTGRADUATE DIPLOMA IN DATA SCIENCE</a:t>
            </a:r>
            <a:endParaRPr lang="en-US" sz="1400" dirty="0"/>
          </a:p>
        </p:txBody>
      </p:sp>
      <p:sp>
        <p:nvSpPr>
          <p:cNvPr id="3" name="Text 1"/>
          <p:cNvSpPr>
            <a:spLocks noGrp="1"/>
          </p:cNvSpPr>
          <p:nvPr>
            <p:ph type="title"/>
          </p:nvPr>
        </p:nvSpPr>
        <p:spPr>
          <a:xfrm>
            <a:off x="812800" y="2199481"/>
            <a:ext cx="10883392" cy="1902777"/>
          </a:xfrm>
          <a:prstGeom prst="rect">
            <a:avLst/>
          </a:prstGeom>
          <a:noFill/>
          <a:ln/>
        </p:spPr>
        <p:txBody>
          <a:bodyPr wrap="square" lIns="0" tIns="0" rIns="0" bIns="0" rtlCol="0" anchor="t">
            <a:normAutofit/>
          </a:bodyPr>
          <a:lstStyle/>
          <a:p>
            <a:pPr marL="0" indent="0" algn="l">
              <a:lnSpc>
                <a:spcPts val="4928"/>
              </a:lnSpc>
              <a:buNone/>
            </a:pPr>
            <a:r>
              <a:rPr lang="en-US" sz="4400" b="1" i="0" dirty="0">
                <a:solidFill>
                  <a:srgbClr val="F2EFE7"/>
                </a:solidFill>
                <a:latin typeface="Libre Baskerville" pitchFamily="18" charset="0"/>
                <a:ea typeface="Libre Baskerville" pitchFamily="18" charset="-122"/>
                <a:cs typeface="Libre Baskerville" pitchFamily="18" charset="-120"/>
              </a:rPr>
              <a:t>Flagging client portfolio concentration risk before it becomes a loss</a:t>
            </a:r>
            <a:endParaRPr lang="en-US" sz="4400" dirty="0"/>
          </a:p>
        </p:txBody>
      </p:sp>
      <p:sp>
        <p:nvSpPr>
          <p:cNvPr id="4" name="Text 2"/>
          <p:cNvSpPr/>
          <p:nvPr/>
        </p:nvSpPr>
        <p:spPr>
          <a:xfrm>
            <a:off x="812800" y="4280059"/>
            <a:ext cx="10883392" cy="3683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AEBBCB"/>
                </a:solidFill>
                <a:latin typeface="Public Sans" pitchFamily="34" charset="0"/>
                <a:ea typeface="Public Sans" pitchFamily="34" charset="-122"/>
                <a:cs typeface="Public Sans" pitchFamily="34" charset="-120"/>
              </a:rPr>
              <a:t>From a public proxy dataset to the STADIOEquities client extract</a:t>
            </a:r>
            <a:endParaRPr lang="en-US" sz="2000" dirty="0"/>
          </a:p>
        </p:txBody>
      </p:sp>
      <p:sp>
        <p:nvSpPr>
          <p:cNvPr id="5" name="Text 3"/>
          <p:cNvSpPr/>
          <p:nvPr/>
        </p:nvSpPr>
        <p:spPr>
          <a:xfrm>
            <a:off x="812800" y="5760720"/>
            <a:ext cx="252755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2EFE7"/>
                </a:solidFill>
                <a:latin typeface="Public Sans" pitchFamily="34" charset="0"/>
                <a:ea typeface="Public Sans" pitchFamily="34" charset="-122"/>
                <a:cs typeface="Public Sans" pitchFamily="34" charset="-120"/>
              </a:rPr>
              <a:t>Gopolang Mmutlwane</a:t>
            </a:r>
            <a:endParaRPr lang="en-US" sz="1600" dirty="0"/>
          </a:p>
        </p:txBody>
      </p:sp>
      <p:sp>
        <p:nvSpPr>
          <p:cNvPr id="6" name="Text 4"/>
          <p:cNvSpPr/>
          <p:nvPr/>
        </p:nvSpPr>
        <p:spPr>
          <a:xfrm>
            <a:off x="6448679" y="5796280"/>
            <a:ext cx="4930521" cy="274320"/>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AEBBCB"/>
                </a:solidFill>
                <a:latin typeface="Public Sans" pitchFamily="34" charset="0"/>
                <a:ea typeface="Public Sans" pitchFamily="34" charset="-122"/>
                <a:cs typeface="Public Sans" pitchFamily="34" charset="-120"/>
              </a:rPr>
              <a:t>Client: STADIOEquities · Stages SS1, SS2 and SS3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B6A"/>
                </a:solidFill>
                <a:latin typeface="Public Sans" pitchFamily="34" charset="0"/>
                <a:ea typeface="Public Sans" pitchFamily="34" charset="-122"/>
                <a:cs typeface="Public Sans" pitchFamily="34" charset="-120"/>
              </a:rPr>
              <a:t>INTRODUCTION · THE REAL-WORLD PROBLEM</a:t>
            </a:r>
            <a:endParaRPr lang="en-US" sz="1400" dirty="0"/>
          </a:p>
        </p:txBody>
      </p:sp>
      <p:sp>
        <p:nvSpPr>
          <p:cNvPr id="3" name="Text 1"/>
          <p:cNvSpPr>
            <a:spLocks noGrp="1"/>
          </p:cNvSpPr>
          <p:nvPr>
            <p:ph type="title"/>
          </p:nvPr>
        </p:nvSpPr>
        <p:spPr>
          <a:xfrm>
            <a:off x="812800" y="1264920"/>
            <a:ext cx="10883392" cy="843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Clients learn they were over-concentrated only after they lose money</a:t>
            </a:r>
            <a:endParaRPr lang="en-US" sz="2800" dirty="0"/>
          </a:p>
        </p:txBody>
      </p:sp>
      <p:sp>
        <p:nvSpPr>
          <p:cNvPr id="4" name="Shape 2"/>
          <p:cNvSpPr/>
          <p:nvPr/>
        </p:nvSpPr>
        <p:spPr>
          <a:xfrm>
            <a:off x="815975" y="2289175"/>
            <a:ext cx="2520950" cy="1832610"/>
          </a:xfrm>
          <a:prstGeom prst="roundRect">
            <a:avLst>
              <a:gd name="adj" fmla="val 5371"/>
            </a:avLst>
          </a:prstGeom>
          <a:solidFill>
            <a:srgbClr val="FBFAF6"/>
          </a:solidFill>
          <a:ln w="6350">
            <a:solidFill>
              <a:srgbClr val="DDD8CB"/>
            </a:solidFill>
            <a:prstDash val="solid"/>
          </a:ln>
        </p:spPr>
        <p:txBody>
          <a:bodyPr/>
          <a:lstStyle/>
          <a:p>
            <a:endParaRPr lang="en-US"/>
          </a:p>
        </p:txBody>
      </p:sp>
      <p:sp>
        <p:nvSpPr>
          <p:cNvPr id="5" name="Text 3"/>
          <p:cNvSpPr/>
          <p:nvPr/>
        </p:nvSpPr>
        <p:spPr>
          <a:xfrm>
            <a:off x="1021080" y="2494280"/>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01</a:t>
            </a:r>
            <a:endParaRPr lang="en-US" sz="1400" dirty="0"/>
          </a:p>
        </p:txBody>
      </p:sp>
      <p:sp>
        <p:nvSpPr>
          <p:cNvPr id="6" name="Text 4"/>
          <p:cNvSpPr/>
          <p:nvPr/>
        </p:nvSpPr>
        <p:spPr>
          <a:xfrm>
            <a:off x="1021080" y="2819400"/>
            <a:ext cx="217406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Concentrated</a:t>
            </a:r>
            <a:endParaRPr lang="en-US" sz="1800" dirty="0"/>
          </a:p>
        </p:txBody>
      </p:sp>
      <p:sp>
        <p:nvSpPr>
          <p:cNvPr id="7" name="Text 5"/>
          <p:cNvSpPr/>
          <p:nvPr/>
        </p:nvSpPr>
        <p:spPr>
          <a:xfrm>
            <a:off x="1021080" y="3169920"/>
            <a:ext cx="217406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Public Sans" pitchFamily="34" charset="0"/>
                <a:ea typeface="Public Sans" pitchFamily="34" charset="-122"/>
                <a:cs typeface="Public Sans" pitchFamily="34" charset="-120"/>
              </a:rPr>
              <a:t>Most of a client's balance sits in one volatile stock.</a:t>
            </a:r>
            <a:endParaRPr lang="en-US" sz="1400" dirty="0"/>
          </a:p>
        </p:txBody>
      </p:sp>
      <p:sp>
        <p:nvSpPr>
          <p:cNvPr id="8" name="Shape 6"/>
          <p:cNvSpPr/>
          <p:nvPr/>
        </p:nvSpPr>
        <p:spPr>
          <a:xfrm>
            <a:off x="3495675" y="2289175"/>
            <a:ext cx="2520950" cy="1832610"/>
          </a:xfrm>
          <a:prstGeom prst="roundRect">
            <a:avLst>
              <a:gd name="adj" fmla="val 5371"/>
            </a:avLst>
          </a:prstGeom>
          <a:solidFill>
            <a:srgbClr val="FBFAF6"/>
          </a:solidFill>
          <a:ln w="6350">
            <a:solidFill>
              <a:srgbClr val="DDD8CB"/>
            </a:solidFill>
            <a:prstDash val="solid"/>
          </a:ln>
        </p:spPr>
        <p:txBody>
          <a:bodyPr/>
          <a:lstStyle/>
          <a:p>
            <a:endParaRPr lang="en-US"/>
          </a:p>
        </p:txBody>
      </p:sp>
      <p:sp>
        <p:nvSpPr>
          <p:cNvPr id="9" name="Text 7"/>
          <p:cNvSpPr/>
          <p:nvPr/>
        </p:nvSpPr>
        <p:spPr>
          <a:xfrm>
            <a:off x="3700780" y="2494280"/>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02</a:t>
            </a:r>
            <a:endParaRPr lang="en-US" sz="1400" dirty="0"/>
          </a:p>
        </p:txBody>
      </p:sp>
      <p:sp>
        <p:nvSpPr>
          <p:cNvPr id="10" name="Text 8"/>
          <p:cNvSpPr/>
          <p:nvPr/>
        </p:nvSpPr>
        <p:spPr>
          <a:xfrm>
            <a:off x="3700780" y="2819400"/>
            <a:ext cx="217406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Price falls</a:t>
            </a:r>
            <a:endParaRPr lang="en-US" sz="1800" dirty="0"/>
          </a:p>
        </p:txBody>
      </p:sp>
      <p:sp>
        <p:nvSpPr>
          <p:cNvPr id="11" name="Text 9"/>
          <p:cNvSpPr/>
          <p:nvPr/>
        </p:nvSpPr>
        <p:spPr>
          <a:xfrm>
            <a:off x="3700780" y="3169920"/>
            <a:ext cx="217406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Public Sans" pitchFamily="34" charset="0"/>
                <a:ea typeface="Public Sans" pitchFamily="34" charset="-122"/>
                <a:cs typeface="Public Sans" pitchFamily="34" charset="-120"/>
              </a:rPr>
              <a:t>One bad move hits the whole portfolio.</a:t>
            </a:r>
            <a:endParaRPr lang="en-US" sz="1400" dirty="0"/>
          </a:p>
        </p:txBody>
      </p:sp>
      <p:sp>
        <p:nvSpPr>
          <p:cNvPr id="12" name="Shape 10"/>
          <p:cNvSpPr/>
          <p:nvPr/>
        </p:nvSpPr>
        <p:spPr>
          <a:xfrm>
            <a:off x="6175375" y="2289175"/>
            <a:ext cx="2520950" cy="1832610"/>
          </a:xfrm>
          <a:prstGeom prst="roundRect">
            <a:avLst>
              <a:gd name="adj" fmla="val 5371"/>
            </a:avLst>
          </a:prstGeom>
          <a:solidFill>
            <a:srgbClr val="FBFAF6"/>
          </a:solidFill>
          <a:ln w="6350">
            <a:solidFill>
              <a:srgbClr val="DDD8CB"/>
            </a:solidFill>
            <a:prstDash val="solid"/>
          </a:ln>
        </p:spPr>
        <p:txBody>
          <a:bodyPr/>
          <a:lstStyle/>
          <a:p>
            <a:endParaRPr lang="en-US"/>
          </a:p>
        </p:txBody>
      </p:sp>
      <p:sp>
        <p:nvSpPr>
          <p:cNvPr id="13" name="Text 11"/>
          <p:cNvSpPr/>
          <p:nvPr/>
        </p:nvSpPr>
        <p:spPr>
          <a:xfrm>
            <a:off x="6380480" y="2494280"/>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03</a:t>
            </a:r>
            <a:endParaRPr lang="en-US" sz="1400" dirty="0"/>
          </a:p>
        </p:txBody>
      </p:sp>
      <p:sp>
        <p:nvSpPr>
          <p:cNvPr id="14" name="Text 12"/>
          <p:cNvSpPr/>
          <p:nvPr/>
        </p:nvSpPr>
        <p:spPr>
          <a:xfrm>
            <a:off x="6380480" y="2819400"/>
            <a:ext cx="217406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Loss</a:t>
            </a:r>
            <a:endParaRPr lang="en-US" sz="1800" dirty="0"/>
          </a:p>
        </p:txBody>
      </p:sp>
      <p:sp>
        <p:nvSpPr>
          <p:cNvPr id="15" name="Text 13"/>
          <p:cNvSpPr/>
          <p:nvPr/>
        </p:nvSpPr>
        <p:spPr>
          <a:xfrm>
            <a:off x="6380480" y="3169920"/>
            <a:ext cx="21740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Public Sans" pitchFamily="34" charset="0"/>
                <a:ea typeface="Public Sans" pitchFamily="34" charset="-122"/>
                <a:cs typeface="Public Sans" pitchFamily="34" charset="-120"/>
              </a:rPr>
              <a:t>The client loses money they did not expect to lose.</a:t>
            </a:r>
            <a:endParaRPr lang="en-US" sz="1400" dirty="0"/>
          </a:p>
        </p:txBody>
      </p:sp>
      <p:sp>
        <p:nvSpPr>
          <p:cNvPr id="16" name="Shape 14"/>
          <p:cNvSpPr/>
          <p:nvPr/>
        </p:nvSpPr>
        <p:spPr>
          <a:xfrm>
            <a:off x="8855075" y="2289175"/>
            <a:ext cx="2520950" cy="1832610"/>
          </a:xfrm>
          <a:prstGeom prst="roundRect">
            <a:avLst>
              <a:gd name="adj" fmla="val 5371"/>
            </a:avLst>
          </a:prstGeom>
          <a:solidFill>
            <a:srgbClr val="FBFAF6"/>
          </a:solidFill>
          <a:ln w="6350">
            <a:solidFill>
              <a:srgbClr val="DDD8CB"/>
            </a:solidFill>
            <a:prstDash val="solid"/>
          </a:ln>
        </p:spPr>
        <p:txBody>
          <a:bodyPr/>
          <a:lstStyle/>
          <a:p>
            <a:endParaRPr lang="en-US"/>
          </a:p>
        </p:txBody>
      </p:sp>
      <p:sp>
        <p:nvSpPr>
          <p:cNvPr id="17" name="Text 15"/>
          <p:cNvSpPr/>
          <p:nvPr/>
        </p:nvSpPr>
        <p:spPr>
          <a:xfrm>
            <a:off x="9060180" y="2494280"/>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04</a:t>
            </a:r>
            <a:endParaRPr lang="en-US" sz="1400" dirty="0"/>
          </a:p>
        </p:txBody>
      </p:sp>
      <p:sp>
        <p:nvSpPr>
          <p:cNvPr id="18" name="Text 16"/>
          <p:cNvSpPr/>
          <p:nvPr/>
        </p:nvSpPr>
        <p:spPr>
          <a:xfrm>
            <a:off x="9060180" y="2819400"/>
            <a:ext cx="217406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Complaint</a:t>
            </a:r>
            <a:endParaRPr lang="en-US" sz="1800" dirty="0"/>
          </a:p>
        </p:txBody>
      </p:sp>
      <p:sp>
        <p:nvSpPr>
          <p:cNvPr id="19" name="Text 17"/>
          <p:cNvSpPr/>
          <p:nvPr/>
        </p:nvSpPr>
        <p:spPr>
          <a:xfrm>
            <a:off x="9060180" y="3169920"/>
            <a:ext cx="217406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Public Sans" pitchFamily="34" charset="0"/>
                <a:ea typeface="Public Sans" pitchFamily="34" charset="-122"/>
                <a:cs typeface="Public Sans" pitchFamily="34" charset="-120"/>
              </a:rPr>
              <a:t>STADIOEquities hears about it only now.</a:t>
            </a:r>
            <a:endParaRPr lang="en-US" sz="1400" dirty="0"/>
          </a:p>
        </p:txBody>
      </p:sp>
      <p:sp>
        <p:nvSpPr>
          <p:cNvPr id="20" name="Text 18"/>
          <p:cNvSpPr/>
          <p:nvPr/>
        </p:nvSpPr>
        <p:spPr>
          <a:xfrm>
            <a:off x="812800" y="4328160"/>
            <a:ext cx="10566400" cy="787400"/>
          </a:xfrm>
          <a:prstGeom prst="roundRect">
            <a:avLst>
              <a:gd name="adj" fmla="val 12903"/>
            </a:avLst>
          </a:prstGeom>
          <a:solidFill>
            <a:srgbClr val="E3A72F"/>
          </a:solidFill>
          <a:ln/>
        </p:spPr>
        <p:txBody>
          <a:bodyPr wrap="square" lIns="249642" tIns="198842" rIns="0" bIns="173442" rtlCol="0" anchor="t">
            <a:normAutofit/>
          </a:bodyPr>
          <a:lstStyle/>
          <a:p>
            <a:pPr marL="0" indent="0" algn="l">
              <a:lnSpc>
                <a:spcPts val="2600"/>
              </a:lnSpc>
              <a:buNone/>
            </a:pPr>
            <a:r>
              <a:rPr lang="en-US" sz="2000" b="1" dirty="0">
                <a:solidFill>
                  <a:srgbClr val="14202F"/>
                </a:solidFill>
                <a:latin typeface="Public Sans" pitchFamily="34" charset="0"/>
                <a:ea typeface="Public Sans" pitchFamily="34" charset="-122"/>
                <a:cs typeface="Public Sans" pitchFamily="34" charset="-120"/>
              </a:rPr>
              <a:t>Our objective: flag these clients early, so the team can guide them before a loss.</a:t>
            </a:r>
            <a:endParaRPr lang="en-US" sz="2000" dirty="0"/>
          </a:p>
        </p:txBody>
      </p:sp>
      <p:sp>
        <p:nvSpPr>
          <p:cNvPr id="21" name="Text 19"/>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22" name="Text 20"/>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 / 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B6A"/>
                </a:solidFill>
                <a:latin typeface="Public Sans" pitchFamily="34" charset="0"/>
                <a:ea typeface="Public Sans" pitchFamily="34" charset="-122"/>
                <a:cs typeface="Public Sans" pitchFamily="34" charset="-120"/>
              </a:rPr>
              <a:t>INTRODUCTION · OUR APPROACH</a:t>
            </a:r>
            <a:endParaRPr lang="en-US" sz="1400" dirty="0"/>
          </a:p>
        </p:txBody>
      </p:sp>
      <p:sp>
        <p:nvSpPr>
          <p:cNvPr id="3" name="Text 1"/>
          <p:cNvSpPr>
            <a:spLocks noGrp="1"/>
          </p:cNvSpPr>
          <p:nvPr>
            <p:ph type="title"/>
          </p:nvPr>
        </p:nvSpPr>
        <p:spPr>
          <a:xfrm>
            <a:off x="812800" y="1264920"/>
            <a:ext cx="10883392" cy="843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Three stages, one question: can concentration risk be flagged early?</a:t>
            </a:r>
            <a:endParaRPr lang="en-US" sz="2800" dirty="0"/>
          </a:p>
        </p:txBody>
      </p:sp>
      <p:sp>
        <p:nvSpPr>
          <p:cNvPr id="4" name="Shape 2"/>
          <p:cNvSpPr/>
          <p:nvPr/>
        </p:nvSpPr>
        <p:spPr>
          <a:xfrm>
            <a:off x="815975" y="2289175"/>
            <a:ext cx="3414157" cy="2785110"/>
          </a:xfrm>
          <a:prstGeom prst="roundRect">
            <a:avLst>
              <a:gd name="adj" fmla="val 3534"/>
            </a:avLst>
          </a:prstGeom>
          <a:solidFill>
            <a:srgbClr val="FBFAF6"/>
          </a:solidFill>
          <a:ln w="6350">
            <a:solidFill>
              <a:srgbClr val="DDD8CB"/>
            </a:solidFill>
            <a:prstDash val="solid"/>
          </a:ln>
        </p:spPr>
        <p:txBody>
          <a:bodyPr/>
          <a:lstStyle/>
          <a:p>
            <a:endParaRPr lang="en-US"/>
          </a:p>
        </p:txBody>
      </p:sp>
      <p:sp>
        <p:nvSpPr>
          <p:cNvPr id="5" name="Text 3"/>
          <p:cNvSpPr/>
          <p:nvPr/>
        </p:nvSpPr>
        <p:spPr>
          <a:xfrm>
            <a:off x="1071880" y="2545080"/>
            <a:ext cx="298941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SS1</a:t>
            </a:r>
            <a:endParaRPr lang="en-US" sz="1400" dirty="0"/>
          </a:p>
        </p:txBody>
      </p:sp>
      <p:sp>
        <p:nvSpPr>
          <p:cNvPr id="6" name="Text 4"/>
          <p:cNvSpPr/>
          <p:nvPr/>
        </p:nvSpPr>
        <p:spPr>
          <a:xfrm>
            <a:off x="1071880" y="2895600"/>
            <a:ext cx="29894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Define the problem</a:t>
            </a:r>
            <a:endParaRPr lang="en-US" sz="1800" dirty="0"/>
          </a:p>
        </p:txBody>
      </p:sp>
      <p:sp>
        <p:nvSpPr>
          <p:cNvPr id="7" name="Text 5"/>
          <p:cNvSpPr/>
          <p:nvPr/>
        </p:nvSpPr>
        <p:spPr>
          <a:xfrm>
            <a:off x="1156462" y="3271520"/>
            <a:ext cx="2897215" cy="157226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Framed the problem with STADIOEquities</a:t>
            </a:r>
            <a:endParaRPr lang="en-US" sz="1400" dirty="0"/>
          </a:p>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Specified the client data we would need</a:t>
            </a:r>
            <a:endParaRPr lang="en-US" sz="1400" dirty="0"/>
          </a:p>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Chose concentration measures such as HHI</a:t>
            </a:r>
            <a:endParaRPr lang="en-US" sz="1400" dirty="0"/>
          </a:p>
        </p:txBody>
      </p:sp>
      <p:sp>
        <p:nvSpPr>
          <p:cNvPr id="8" name="Shape 6"/>
          <p:cNvSpPr/>
          <p:nvPr/>
        </p:nvSpPr>
        <p:spPr>
          <a:xfrm>
            <a:off x="4388882" y="2289175"/>
            <a:ext cx="3414236" cy="2785110"/>
          </a:xfrm>
          <a:prstGeom prst="roundRect">
            <a:avLst>
              <a:gd name="adj" fmla="val 3534"/>
            </a:avLst>
          </a:prstGeom>
          <a:solidFill>
            <a:srgbClr val="FBFAF6"/>
          </a:solidFill>
          <a:ln w="6350">
            <a:solidFill>
              <a:srgbClr val="DDD8CB"/>
            </a:solidFill>
            <a:prstDash val="solid"/>
          </a:ln>
        </p:spPr>
        <p:txBody>
          <a:bodyPr/>
          <a:lstStyle/>
          <a:p>
            <a:endParaRPr lang="en-US"/>
          </a:p>
        </p:txBody>
      </p:sp>
      <p:sp>
        <p:nvSpPr>
          <p:cNvPr id="9" name="Text 7"/>
          <p:cNvSpPr/>
          <p:nvPr/>
        </p:nvSpPr>
        <p:spPr>
          <a:xfrm>
            <a:off x="4644787" y="2545080"/>
            <a:ext cx="298949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SS2</a:t>
            </a:r>
            <a:endParaRPr lang="en-US" sz="1400" dirty="0"/>
          </a:p>
        </p:txBody>
      </p:sp>
      <p:sp>
        <p:nvSpPr>
          <p:cNvPr id="10" name="Text 8"/>
          <p:cNvSpPr/>
          <p:nvPr/>
        </p:nvSpPr>
        <p:spPr>
          <a:xfrm>
            <a:off x="4644787" y="2895600"/>
            <a:ext cx="298949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Prove it on public data</a:t>
            </a:r>
            <a:endParaRPr lang="en-US" sz="1800" dirty="0"/>
          </a:p>
        </p:txBody>
      </p:sp>
      <p:sp>
        <p:nvSpPr>
          <p:cNvPr id="11" name="Text 9"/>
          <p:cNvSpPr/>
          <p:nvPr/>
        </p:nvSpPr>
        <p:spPr>
          <a:xfrm>
            <a:off x="4729369" y="3271520"/>
            <a:ext cx="2897297" cy="131445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SEC Form 13F holdings as a proxy</a:t>
            </a:r>
            <a:endParaRPr lang="en-US" sz="1400" dirty="0"/>
          </a:p>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Compared Logistic Regression with XGBoost</a:t>
            </a:r>
            <a:endParaRPr lang="en-US" sz="1400" dirty="0"/>
          </a:p>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Recommended XGBoost</a:t>
            </a:r>
            <a:endParaRPr lang="en-US" sz="1400" dirty="0"/>
          </a:p>
        </p:txBody>
      </p:sp>
      <p:sp>
        <p:nvSpPr>
          <p:cNvPr id="12" name="Shape 10"/>
          <p:cNvSpPr/>
          <p:nvPr/>
        </p:nvSpPr>
        <p:spPr>
          <a:xfrm>
            <a:off x="7961868" y="2289175"/>
            <a:ext cx="3414157" cy="2785110"/>
          </a:xfrm>
          <a:prstGeom prst="roundRect">
            <a:avLst>
              <a:gd name="adj" fmla="val 3534"/>
            </a:avLst>
          </a:prstGeom>
          <a:solidFill>
            <a:srgbClr val="FBFAF6"/>
          </a:solidFill>
          <a:ln w="6350">
            <a:solidFill>
              <a:srgbClr val="DDD8CB"/>
            </a:solidFill>
            <a:prstDash val="solid"/>
          </a:ln>
        </p:spPr>
        <p:txBody>
          <a:bodyPr/>
          <a:lstStyle/>
          <a:p>
            <a:endParaRPr lang="en-US"/>
          </a:p>
        </p:txBody>
      </p:sp>
      <p:sp>
        <p:nvSpPr>
          <p:cNvPr id="13" name="Text 11"/>
          <p:cNvSpPr/>
          <p:nvPr/>
        </p:nvSpPr>
        <p:spPr>
          <a:xfrm>
            <a:off x="8217774" y="2545080"/>
            <a:ext cx="298941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SS3</a:t>
            </a:r>
            <a:endParaRPr lang="en-US" sz="1400" dirty="0"/>
          </a:p>
        </p:txBody>
      </p:sp>
      <p:sp>
        <p:nvSpPr>
          <p:cNvPr id="14" name="Text 12"/>
          <p:cNvSpPr/>
          <p:nvPr/>
        </p:nvSpPr>
        <p:spPr>
          <a:xfrm>
            <a:off x="8217774" y="2895600"/>
            <a:ext cx="29894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Apply it to client data</a:t>
            </a:r>
            <a:endParaRPr lang="en-US" sz="1800" dirty="0"/>
          </a:p>
        </p:txBody>
      </p:sp>
      <p:sp>
        <p:nvSpPr>
          <p:cNvPr id="15" name="Text 13"/>
          <p:cNvSpPr/>
          <p:nvPr/>
        </p:nvSpPr>
        <p:spPr>
          <a:xfrm>
            <a:off x="8302356" y="3271520"/>
            <a:ext cx="2897215" cy="105664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STADIOEquities extract of 418 clients</a:t>
            </a:r>
            <a:endParaRPr lang="en-US" sz="1400" dirty="0"/>
          </a:p>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Retrained and tested XGBoost</a:t>
            </a:r>
            <a:endParaRPr lang="en-US" sz="1400" dirty="0"/>
          </a:p>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Results, limits and next steps</a:t>
            </a:r>
            <a:endParaRPr lang="en-US" sz="1400" dirty="0"/>
          </a:p>
        </p:txBody>
      </p:sp>
      <p:sp>
        <p:nvSpPr>
          <p:cNvPr id="16" name="Text 14"/>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7" name="Text 15"/>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3 / 13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B6A"/>
                </a:solidFill>
                <a:latin typeface="Public Sans" pitchFamily="34" charset="0"/>
                <a:ea typeface="Public Sans" pitchFamily="34" charset="-122"/>
                <a:cs typeface="Public Sans" pitchFamily="34" charset="-120"/>
              </a:rPr>
              <a:t>DATA OVERVIEW</a:t>
            </a:r>
            <a:endParaRPr lang="en-US" sz="1400" dirty="0"/>
          </a:p>
        </p:txBody>
      </p:sp>
      <p:sp>
        <p:nvSpPr>
          <p:cNvPr id="3" name="Text 1"/>
          <p:cNvSpPr>
            <a:spLocks noGrp="1"/>
          </p:cNvSpPr>
          <p:nvPr>
            <p:ph type="title"/>
          </p:nvPr>
        </p:nvSpPr>
        <p:spPr>
          <a:xfrm>
            <a:off x="812800" y="1264920"/>
            <a:ext cx="11379200"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Two datasets: a public proxy first, then the client extract</a:t>
            </a:r>
            <a:endParaRPr lang="en-US" sz="2800" dirty="0"/>
          </a:p>
        </p:txBody>
      </p:sp>
      <p:sp>
        <p:nvSpPr>
          <p:cNvPr id="4" name="Shape 2"/>
          <p:cNvSpPr/>
          <p:nvPr/>
        </p:nvSpPr>
        <p:spPr>
          <a:xfrm>
            <a:off x="815975" y="1880236"/>
            <a:ext cx="5200650" cy="2372360"/>
          </a:xfrm>
          <a:prstGeom prst="roundRect">
            <a:avLst>
              <a:gd name="adj" fmla="val 4149"/>
            </a:avLst>
          </a:prstGeom>
          <a:solidFill>
            <a:srgbClr val="FBFAF6"/>
          </a:solidFill>
          <a:ln w="6350">
            <a:solidFill>
              <a:srgbClr val="DDD8CB"/>
            </a:solidFill>
            <a:prstDash val="solid"/>
          </a:ln>
        </p:spPr>
        <p:txBody>
          <a:bodyPr/>
          <a:lstStyle/>
          <a:p>
            <a:endParaRPr lang="en-US"/>
          </a:p>
        </p:txBody>
      </p:sp>
      <p:sp>
        <p:nvSpPr>
          <p:cNvPr id="5" name="Text 3"/>
          <p:cNvSpPr/>
          <p:nvPr/>
        </p:nvSpPr>
        <p:spPr>
          <a:xfrm>
            <a:off x="1046480" y="2110741"/>
            <a:ext cx="488182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SS2 · SEC Form 13F, public proxy</a:t>
            </a:r>
            <a:endParaRPr lang="en-US" sz="1400" dirty="0"/>
          </a:p>
        </p:txBody>
      </p:sp>
      <p:sp>
        <p:nvSpPr>
          <p:cNvPr id="6" name="Text 4"/>
          <p:cNvSpPr/>
          <p:nvPr/>
        </p:nvSpPr>
        <p:spPr>
          <a:xfrm>
            <a:off x="1046480" y="2435861"/>
            <a:ext cx="4881829"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4202F"/>
                </a:solidFill>
                <a:latin typeface="Libre Baskerville" pitchFamily="18" charset="0"/>
                <a:ea typeface="Libre Baskerville" pitchFamily="18" charset="-122"/>
                <a:cs typeface="Libre Baskerville" pitchFamily="18" charset="-120"/>
              </a:rPr>
              <a:t>20,244</a:t>
            </a:r>
            <a:endParaRPr lang="en-US" sz="4800" dirty="0"/>
          </a:p>
        </p:txBody>
      </p:sp>
      <p:sp>
        <p:nvSpPr>
          <p:cNvPr id="7" name="Text 5"/>
          <p:cNvSpPr/>
          <p:nvPr/>
        </p:nvSpPr>
        <p:spPr>
          <a:xfrm>
            <a:off x="1046480" y="3182620"/>
            <a:ext cx="4881829"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4202F"/>
                </a:solidFill>
                <a:latin typeface="Public Sans" pitchFamily="34" charset="0"/>
                <a:ea typeface="Public Sans" pitchFamily="34" charset="-122"/>
                <a:cs typeface="Public Sans" pitchFamily="34" charset="-120"/>
              </a:rPr>
              <a:t>institution-quarter rows across 10 quarters, 2015 to 2017</a:t>
            </a:r>
            <a:endParaRPr lang="en-US" sz="1500" dirty="0"/>
          </a:p>
        </p:txBody>
      </p:sp>
      <p:sp>
        <p:nvSpPr>
          <p:cNvPr id="8" name="Text 6"/>
          <p:cNvSpPr/>
          <p:nvPr/>
        </p:nvSpPr>
        <p:spPr>
          <a:xfrm>
            <a:off x="1046480" y="3773170"/>
            <a:ext cx="488182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Public Sans" pitchFamily="34" charset="0"/>
                <a:ea typeface="Public Sans" pitchFamily="34" charset="-122"/>
                <a:cs typeface="Public Sans" pitchFamily="34" charset="-120"/>
              </a:rPr>
              <a:t>846 labelled high-risk (4.2%)</a:t>
            </a:r>
            <a:endParaRPr lang="en-US" sz="1400" dirty="0"/>
          </a:p>
        </p:txBody>
      </p:sp>
      <p:sp>
        <p:nvSpPr>
          <p:cNvPr id="9" name="Shape 7"/>
          <p:cNvSpPr/>
          <p:nvPr/>
        </p:nvSpPr>
        <p:spPr>
          <a:xfrm>
            <a:off x="6175375" y="1880236"/>
            <a:ext cx="5200650" cy="2372360"/>
          </a:xfrm>
          <a:prstGeom prst="roundRect">
            <a:avLst>
              <a:gd name="adj" fmla="val 4149"/>
            </a:avLst>
          </a:prstGeom>
          <a:solidFill>
            <a:srgbClr val="FBFAF6"/>
          </a:solidFill>
          <a:ln w="6350">
            <a:solidFill>
              <a:srgbClr val="DDD8CB"/>
            </a:solidFill>
            <a:prstDash val="solid"/>
          </a:ln>
        </p:spPr>
        <p:txBody>
          <a:bodyPr/>
          <a:lstStyle/>
          <a:p>
            <a:endParaRPr lang="en-US"/>
          </a:p>
        </p:txBody>
      </p:sp>
      <p:sp>
        <p:nvSpPr>
          <p:cNvPr id="10" name="Text 8"/>
          <p:cNvSpPr/>
          <p:nvPr/>
        </p:nvSpPr>
        <p:spPr>
          <a:xfrm>
            <a:off x="6405880" y="2110741"/>
            <a:ext cx="488182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SS3 · STADIOEquities client extract</a:t>
            </a:r>
            <a:endParaRPr lang="en-US" sz="1400" dirty="0"/>
          </a:p>
        </p:txBody>
      </p:sp>
      <p:sp>
        <p:nvSpPr>
          <p:cNvPr id="11" name="Text 9"/>
          <p:cNvSpPr/>
          <p:nvPr/>
        </p:nvSpPr>
        <p:spPr>
          <a:xfrm>
            <a:off x="6405880" y="2435861"/>
            <a:ext cx="4881829"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4202F"/>
                </a:solidFill>
                <a:latin typeface="Libre Baskerville" pitchFamily="18" charset="0"/>
                <a:ea typeface="Libre Baskerville" pitchFamily="18" charset="-122"/>
                <a:cs typeface="Libre Baskerville" pitchFamily="18" charset="-120"/>
              </a:rPr>
              <a:t>418</a:t>
            </a:r>
            <a:endParaRPr lang="en-US" sz="4800" dirty="0"/>
          </a:p>
        </p:txBody>
      </p:sp>
      <p:sp>
        <p:nvSpPr>
          <p:cNvPr id="12" name="Text 10"/>
          <p:cNvSpPr/>
          <p:nvPr/>
        </p:nvSpPr>
        <p:spPr>
          <a:xfrm>
            <a:off x="6405880" y="3182620"/>
            <a:ext cx="4881829"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4202F"/>
                </a:solidFill>
                <a:latin typeface="Public Sans" pitchFamily="34" charset="0"/>
                <a:ea typeface="Public Sans" pitchFamily="34" charset="-122"/>
                <a:cs typeface="Public Sans" pitchFamily="34" charset="-120"/>
              </a:rPr>
              <a:t>clients, from four tables: accounts, holdings, transactions, complaints</a:t>
            </a:r>
            <a:endParaRPr lang="en-US" sz="1500" dirty="0"/>
          </a:p>
        </p:txBody>
      </p:sp>
      <p:sp>
        <p:nvSpPr>
          <p:cNvPr id="13" name="Text 11"/>
          <p:cNvSpPr/>
          <p:nvPr/>
        </p:nvSpPr>
        <p:spPr>
          <a:xfrm>
            <a:off x="6405880" y="3773170"/>
            <a:ext cx="488182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Public Sans" pitchFamily="34" charset="0"/>
                <a:ea typeface="Public Sans" pitchFamily="34" charset="-122"/>
                <a:cs typeface="Public Sans" pitchFamily="34" charset="-120"/>
              </a:rPr>
              <a:t>17 flagged (4.07%)</a:t>
            </a:r>
            <a:endParaRPr lang="en-US" sz="1400" dirty="0"/>
          </a:p>
        </p:txBody>
      </p:sp>
      <p:sp>
        <p:nvSpPr>
          <p:cNvPr id="14" name="Text 12"/>
          <p:cNvSpPr/>
          <p:nvPr/>
        </p:nvSpPr>
        <p:spPr>
          <a:xfrm>
            <a:off x="812800" y="4458970"/>
            <a:ext cx="10566400" cy="604520"/>
          </a:xfrm>
          <a:prstGeom prst="roundRect">
            <a:avLst>
              <a:gd name="adj" fmla="val 8403"/>
            </a:avLst>
          </a:prstGeom>
          <a:solidFill>
            <a:srgbClr val="FBFAF6"/>
          </a:solidFill>
          <a:ln/>
        </p:spPr>
        <p:txBody>
          <a:bodyPr wrap="square" lIns="264521" tIns="162921" rIns="0" bIns="137521" rtlCol="0" anchor="t">
            <a:normAutofit/>
          </a:bodyPr>
          <a:lstStyle/>
          <a:p>
            <a:pPr marL="0" indent="0" algn="l">
              <a:lnSpc>
                <a:spcPts val="1960"/>
              </a:lnSpc>
              <a:buNone/>
            </a:pPr>
            <a:r>
              <a:rPr lang="en-US" sz="1400" b="1" dirty="0">
                <a:solidFill>
                  <a:srgbClr val="14202F"/>
                </a:solidFill>
                <a:latin typeface="Public Sans" pitchFamily="34" charset="0"/>
                <a:ea typeface="Public Sans" pitchFamily="34" charset="-122"/>
                <a:cs typeface="Public Sans" pitchFamily="34" charset="-120"/>
              </a:rPr>
              <a:t>Key variables:</a:t>
            </a:r>
            <a:r>
              <a:rPr lang="en-US" sz="1400" dirty="0">
                <a:solidFill>
                  <a:srgbClr val="14202F"/>
                </a:solidFill>
                <a:latin typeface="Public Sans" pitchFamily="34" charset="0"/>
                <a:ea typeface="Public Sans" pitchFamily="34" charset="-122"/>
                <a:cs typeface="Public Sans" pitchFamily="34" charset="-120"/>
              </a:rPr>
              <a:t> HHI, top-holding %, number of holdings, sector HHI, total value. SS3 adds the share of value in auto-invest.</a:t>
            </a:r>
            <a:endParaRPr lang="en-US" sz="1400" dirty="0"/>
          </a:p>
        </p:txBody>
      </p:sp>
      <p:sp>
        <p:nvSpPr>
          <p:cNvPr id="15" name="Shape 13"/>
          <p:cNvSpPr/>
          <p:nvPr/>
        </p:nvSpPr>
        <p:spPr>
          <a:xfrm>
            <a:off x="812800" y="4458970"/>
            <a:ext cx="10566400" cy="604520"/>
          </a:xfrm>
          <a:custGeom>
            <a:avLst/>
            <a:gdLst/>
            <a:ahLst/>
            <a:cxnLst/>
            <a:rect l="l" t="t" r="r" b="b"/>
            <a:pathLst>
              <a:path w="10566400" h="604520">
                <a:moveTo>
                  <a:pt x="50800" y="604520"/>
                </a:moveTo>
                <a:lnTo>
                  <a:pt x="50800" y="604520"/>
                </a:lnTo>
                <a:arcTo wR="50800" hR="50800" stAng="5400000" swAng="5400000"/>
                <a:lnTo>
                  <a:pt x="0" y="50800"/>
                </a:lnTo>
                <a:arcTo wR="50800" hR="50800" stAng="10800000" swAng="5400000"/>
                <a:lnTo>
                  <a:pt x="50800" y="0"/>
                </a:lnTo>
                <a:lnTo>
                  <a:pt x="50800" y="604520"/>
                </a:lnTo>
                <a:close/>
              </a:path>
            </a:pathLst>
          </a:custGeom>
          <a:solidFill>
            <a:srgbClr val="0B6B6A"/>
          </a:solidFill>
          <a:ln/>
        </p:spPr>
        <p:txBody>
          <a:bodyPr/>
          <a:lstStyle/>
          <a:p>
            <a:endParaRPr lang="en-US"/>
          </a:p>
        </p:txBody>
      </p:sp>
      <p:sp>
        <p:nvSpPr>
          <p:cNvPr id="16" name="Text 14"/>
          <p:cNvSpPr/>
          <p:nvPr/>
        </p:nvSpPr>
        <p:spPr>
          <a:xfrm>
            <a:off x="812800" y="526669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Public Sans" pitchFamily="34" charset="0"/>
                <a:ea typeface="Public Sans" pitchFamily="34" charset="-122"/>
                <a:cs typeface="Public Sans" pitchFamily="34" charset="-120"/>
              </a:rPr>
              <a:t>Limits:</a:t>
            </a:r>
            <a:r>
              <a:rPr lang="en-US" sz="1400" dirty="0">
                <a:solidFill>
                  <a:srgbClr val="4A5568"/>
                </a:solidFill>
                <a:latin typeface="Public Sans" pitchFamily="34" charset="0"/>
                <a:ea typeface="Public Sans" pitchFamily="34" charset="-122"/>
                <a:cs typeface="Public Sans" pitchFamily="34" charset="-120"/>
              </a:rPr>
              <a:t> 13F covers institutions, not retail clients. The client extract is synthetic and small.</a:t>
            </a:r>
            <a:endParaRPr lang="en-US" sz="1400" dirty="0"/>
          </a:p>
        </p:txBody>
      </p:sp>
      <p:sp>
        <p:nvSpPr>
          <p:cNvPr id="17" name="Text 15"/>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8" name="Text 16"/>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4 / 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B6A"/>
                </a:solidFill>
                <a:latin typeface="Public Sans" pitchFamily="34" charset="0"/>
                <a:ea typeface="Public Sans" pitchFamily="34" charset="-122"/>
                <a:cs typeface="Public Sans" pitchFamily="34" charset="-120"/>
              </a:rPr>
              <a:t>DATA PREPARATION</a:t>
            </a:r>
            <a:endParaRPr lang="en-US" sz="1400" dirty="0"/>
          </a:p>
        </p:txBody>
      </p:sp>
      <p:sp>
        <p:nvSpPr>
          <p:cNvPr id="3" name="Text 1"/>
          <p:cNvSpPr>
            <a:spLocks noGrp="1"/>
          </p:cNvSpPr>
          <p:nvPr>
            <p:ph type="title"/>
          </p:nvPr>
        </p:nvSpPr>
        <p:spPr>
          <a:xfrm>
            <a:off x="812800" y="126492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What we cleaned, and why it matters</a:t>
            </a:r>
            <a:endParaRPr lang="en-US" sz="2800" dirty="0"/>
          </a:p>
        </p:txBody>
      </p:sp>
      <p:sp>
        <p:nvSpPr>
          <p:cNvPr id="4" name="Text 2"/>
          <p:cNvSpPr/>
          <p:nvPr/>
        </p:nvSpPr>
        <p:spPr>
          <a:xfrm>
            <a:off x="812800" y="1877061"/>
            <a:ext cx="536321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SS2 · public holdings</a:t>
            </a:r>
            <a:endParaRPr lang="en-US" sz="1400" dirty="0"/>
          </a:p>
        </p:txBody>
      </p:sp>
      <p:sp>
        <p:nvSpPr>
          <p:cNvPr id="5" name="Shape 3"/>
          <p:cNvSpPr/>
          <p:nvPr/>
        </p:nvSpPr>
        <p:spPr>
          <a:xfrm>
            <a:off x="815975" y="2230757"/>
            <a:ext cx="5200650" cy="1065530"/>
          </a:xfrm>
          <a:prstGeom prst="roundRect">
            <a:avLst>
              <a:gd name="adj" fmla="val 9237"/>
            </a:avLst>
          </a:prstGeom>
          <a:solidFill>
            <a:srgbClr val="FBFAF6"/>
          </a:solidFill>
          <a:ln w="6350">
            <a:solidFill>
              <a:srgbClr val="DDD8CB"/>
            </a:solidFill>
            <a:prstDash val="solid"/>
          </a:ln>
        </p:spPr>
        <p:txBody>
          <a:bodyPr/>
          <a:lstStyle/>
          <a:p>
            <a:endParaRPr lang="en-US"/>
          </a:p>
        </p:txBody>
      </p:sp>
      <p:sp>
        <p:nvSpPr>
          <p:cNvPr id="6" name="Text 4"/>
          <p:cNvSpPr/>
          <p:nvPr/>
        </p:nvSpPr>
        <p:spPr>
          <a:xfrm>
            <a:off x="1021080" y="2385061"/>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Filled gaps in holdings</a:t>
            </a:r>
            <a:endParaRPr lang="en-US" sz="1600" dirty="0"/>
          </a:p>
        </p:txBody>
      </p:sp>
      <p:sp>
        <p:nvSpPr>
          <p:cNvPr id="7" name="Text 5"/>
          <p:cNvSpPr/>
          <p:nvPr/>
        </p:nvSpPr>
        <p:spPr>
          <a:xfrm>
            <a:off x="1021080" y="2679700"/>
            <a:ext cx="493415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Filings record a value only in the month they appear, so values were carried forward.</a:t>
            </a:r>
            <a:endParaRPr lang="en-US" sz="1300" dirty="0"/>
          </a:p>
        </p:txBody>
      </p:sp>
      <p:sp>
        <p:nvSpPr>
          <p:cNvPr id="8" name="Shape 6"/>
          <p:cNvSpPr/>
          <p:nvPr/>
        </p:nvSpPr>
        <p:spPr>
          <a:xfrm>
            <a:off x="815975" y="3404236"/>
            <a:ext cx="5200650" cy="1065530"/>
          </a:xfrm>
          <a:prstGeom prst="roundRect">
            <a:avLst>
              <a:gd name="adj" fmla="val 9237"/>
            </a:avLst>
          </a:prstGeom>
          <a:solidFill>
            <a:srgbClr val="FBFAF6"/>
          </a:solidFill>
          <a:ln w="6350">
            <a:solidFill>
              <a:srgbClr val="DDD8CB"/>
            </a:solidFill>
            <a:prstDash val="solid"/>
          </a:ln>
        </p:spPr>
        <p:txBody>
          <a:bodyPr/>
          <a:lstStyle/>
          <a:p>
            <a:endParaRPr lang="en-US"/>
          </a:p>
        </p:txBody>
      </p:sp>
      <p:sp>
        <p:nvSpPr>
          <p:cNvPr id="9" name="Text 7"/>
          <p:cNvSpPr/>
          <p:nvPr/>
        </p:nvSpPr>
        <p:spPr>
          <a:xfrm>
            <a:off x="1021080" y="3558539"/>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Matched securities to tickers</a:t>
            </a:r>
            <a:endParaRPr lang="en-US" sz="1600" dirty="0"/>
          </a:p>
        </p:txBody>
      </p:sp>
      <p:sp>
        <p:nvSpPr>
          <p:cNvPr id="10" name="Text 8"/>
          <p:cNvSpPr/>
          <p:nvPr/>
        </p:nvSpPr>
        <p:spPr>
          <a:xfrm>
            <a:off x="1021080" y="3853182"/>
            <a:ext cx="493415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About two-thirds of identifiers could not be matched, most likely delisted or acquired securities.</a:t>
            </a:r>
            <a:endParaRPr lang="en-US" sz="1300" dirty="0"/>
          </a:p>
        </p:txBody>
      </p:sp>
      <p:sp>
        <p:nvSpPr>
          <p:cNvPr id="11" name="Shape 9"/>
          <p:cNvSpPr/>
          <p:nvPr/>
        </p:nvSpPr>
        <p:spPr>
          <a:xfrm>
            <a:off x="815975" y="4577714"/>
            <a:ext cx="5200650" cy="1065530"/>
          </a:xfrm>
          <a:prstGeom prst="roundRect">
            <a:avLst>
              <a:gd name="adj" fmla="val 9237"/>
            </a:avLst>
          </a:prstGeom>
          <a:solidFill>
            <a:srgbClr val="FBFAF6"/>
          </a:solidFill>
          <a:ln w="6350">
            <a:solidFill>
              <a:srgbClr val="DDD8CB"/>
            </a:solidFill>
            <a:prstDash val="solid"/>
          </a:ln>
        </p:spPr>
        <p:txBody>
          <a:bodyPr/>
          <a:lstStyle/>
          <a:p>
            <a:endParaRPr lang="en-US"/>
          </a:p>
        </p:txBody>
      </p:sp>
      <p:sp>
        <p:nvSpPr>
          <p:cNvPr id="12" name="Text 10"/>
          <p:cNvSpPr/>
          <p:nvPr/>
        </p:nvSpPr>
        <p:spPr>
          <a:xfrm>
            <a:off x="1021080" y="4732021"/>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Checked price history</a:t>
            </a:r>
            <a:endParaRPr lang="en-US" sz="1600" dirty="0"/>
          </a:p>
        </p:txBody>
      </p:sp>
      <p:sp>
        <p:nvSpPr>
          <p:cNvPr id="13" name="Text 11"/>
          <p:cNvSpPr/>
          <p:nvPr/>
        </p:nvSpPr>
        <p:spPr>
          <a:xfrm>
            <a:off x="1021080" y="5026661"/>
            <a:ext cx="493415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42.5% of matched tickers had no usable prices: a survivorship-bias risk.</a:t>
            </a:r>
            <a:endParaRPr lang="en-US" sz="1300" dirty="0"/>
          </a:p>
        </p:txBody>
      </p:sp>
      <p:sp>
        <p:nvSpPr>
          <p:cNvPr id="14" name="Text 12"/>
          <p:cNvSpPr/>
          <p:nvPr/>
        </p:nvSpPr>
        <p:spPr>
          <a:xfrm>
            <a:off x="6172200" y="1877061"/>
            <a:ext cx="536321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SS3 · client extract</a:t>
            </a:r>
            <a:endParaRPr lang="en-US" sz="1400" dirty="0"/>
          </a:p>
        </p:txBody>
      </p:sp>
      <p:sp>
        <p:nvSpPr>
          <p:cNvPr id="15" name="Shape 13"/>
          <p:cNvSpPr/>
          <p:nvPr/>
        </p:nvSpPr>
        <p:spPr>
          <a:xfrm>
            <a:off x="6175375" y="2230757"/>
            <a:ext cx="5200650" cy="1065530"/>
          </a:xfrm>
          <a:prstGeom prst="roundRect">
            <a:avLst>
              <a:gd name="adj" fmla="val 9237"/>
            </a:avLst>
          </a:prstGeom>
          <a:solidFill>
            <a:srgbClr val="FBFAF6"/>
          </a:solidFill>
          <a:ln w="6350">
            <a:solidFill>
              <a:srgbClr val="DDD8CB"/>
            </a:solidFill>
            <a:prstDash val="solid"/>
          </a:ln>
        </p:spPr>
        <p:txBody>
          <a:bodyPr/>
          <a:lstStyle/>
          <a:p>
            <a:endParaRPr lang="en-US"/>
          </a:p>
        </p:txBody>
      </p:sp>
      <p:sp>
        <p:nvSpPr>
          <p:cNvPr id="16" name="Text 14"/>
          <p:cNvSpPr/>
          <p:nvPr/>
        </p:nvSpPr>
        <p:spPr>
          <a:xfrm>
            <a:off x="6380480" y="2385061"/>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Built six features per client</a:t>
            </a:r>
            <a:endParaRPr lang="en-US" sz="1600" dirty="0"/>
          </a:p>
        </p:txBody>
      </p:sp>
      <p:sp>
        <p:nvSpPr>
          <p:cNvPr id="17" name="Text 15"/>
          <p:cNvSpPr/>
          <p:nvPr/>
        </p:nvSpPr>
        <p:spPr>
          <a:xfrm>
            <a:off x="6380480" y="2679700"/>
            <a:ext cx="493415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Concentration (HHI), top holding, number of holdings, sector concentration, value, auto-invest share.</a:t>
            </a:r>
            <a:endParaRPr lang="en-US" sz="1300" dirty="0"/>
          </a:p>
        </p:txBody>
      </p:sp>
      <p:sp>
        <p:nvSpPr>
          <p:cNvPr id="18" name="Shape 16"/>
          <p:cNvSpPr/>
          <p:nvPr/>
        </p:nvSpPr>
        <p:spPr>
          <a:xfrm>
            <a:off x="6175375" y="3404236"/>
            <a:ext cx="5200650" cy="1065530"/>
          </a:xfrm>
          <a:prstGeom prst="roundRect">
            <a:avLst>
              <a:gd name="adj" fmla="val 9237"/>
            </a:avLst>
          </a:prstGeom>
          <a:solidFill>
            <a:srgbClr val="FBFAF6"/>
          </a:solidFill>
          <a:ln w="6350">
            <a:solidFill>
              <a:srgbClr val="DDD8CB"/>
            </a:solidFill>
            <a:prstDash val="solid"/>
          </a:ln>
        </p:spPr>
        <p:txBody>
          <a:bodyPr/>
          <a:lstStyle/>
          <a:p>
            <a:endParaRPr lang="en-US"/>
          </a:p>
        </p:txBody>
      </p:sp>
      <p:sp>
        <p:nvSpPr>
          <p:cNvPr id="19" name="Text 17"/>
          <p:cNvSpPr/>
          <p:nvPr/>
        </p:nvSpPr>
        <p:spPr>
          <a:xfrm>
            <a:off x="6380480" y="3558539"/>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Defined the flag</a:t>
            </a:r>
            <a:endParaRPr lang="en-US" sz="1600" dirty="0"/>
          </a:p>
        </p:txBody>
      </p:sp>
      <p:sp>
        <p:nvSpPr>
          <p:cNvPr id="20" name="Text 18"/>
          <p:cNvSpPr/>
          <p:nvPr/>
        </p:nvSpPr>
        <p:spPr>
          <a:xfrm>
            <a:off x="6380480" y="3853182"/>
            <a:ext cx="493415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Stated risk appetite is Low and concentration is in the top quarter (HHI above 0.25).</a:t>
            </a:r>
            <a:endParaRPr lang="en-US" sz="1300" dirty="0"/>
          </a:p>
        </p:txBody>
      </p:sp>
      <p:sp>
        <p:nvSpPr>
          <p:cNvPr id="21" name="Shape 19"/>
          <p:cNvSpPr/>
          <p:nvPr/>
        </p:nvSpPr>
        <p:spPr>
          <a:xfrm>
            <a:off x="6175375" y="4577714"/>
            <a:ext cx="5200650" cy="834390"/>
          </a:xfrm>
          <a:prstGeom prst="roundRect">
            <a:avLst>
              <a:gd name="adj" fmla="val 11796"/>
            </a:avLst>
          </a:prstGeom>
          <a:solidFill>
            <a:srgbClr val="FBFAF6"/>
          </a:solidFill>
          <a:ln w="6350">
            <a:solidFill>
              <a:srgbClr val="DDD8CB"/>
            </a:solidFill>
            <a:prstDash val="solid"/>
          </a:ln>
        </p:spPr>
        <p:txBody>
          <a:bodyPr/>
          <a:lstStyle/>
          <a:p>
            <a:endParaRPr lang="en-US"/>
          </a:p>
        </p:txBody>
      </p:sp>
      <p:sp>
        <p:nvSpPr>
          <p:cNvPr id="22" name="Text 20"/>
          <p:cNvSpPr/>
          <p:nvPr/>
        </p:nvSpPr>
        <p:spPr>
          <a:xfrm>
            <a:off x="6380480" y="4732021"/>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Protected client privacy</a:t>
            </a:r>
            <a:endParaRPr lang="en-US" sz="1600" dirty="0"/>
          </a:p>
        </p:txBody>
      </p:sp>
      <p:sp>
        <p:nvSpPr>
          <p:cNvPr id="23" name="Text 21"/>
          <p:cNvSpPr/>
          <p:nvPr/>
        </p:nvSpPr>
        <p:spPr>
          <a:xfrm>
            <a:off x="6380480" y="5026661"/>
            <a:ext cx="493415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Client IDs were kept out of anything displayed.</a:t>
            </a:r>
            <a:endParaRPr lang="en-US" sz="1300" dirty="0"/>
          </a:p>
        </p:txBody>
      </p:sp>
      <p:sp>
        <p:nvSpPr>
          <p:cNvPr id="24" name="Text 22"/>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25" name="Text 23"/>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5 / 13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40824"/>
          </a:xfrm>
          <a:prstGeom prst="rect">
            <a:avLst/>
          </a:prstGeom>
          <a:noFill/>
          <a:ln/>
        </p:spPr>
        <p:txBody>
          <a:bodyPr wrap="square" lIns="0" tIns="0" rIns="0" bIns="0" rtlCol="0" anchor="t">
            <a:normAutofit/>
          </a:bodyPr>
          <a:lstStyle/>
          <a:p>
            <a:pPr marL="0" indent="0" algn="l">
              <a:lnSpc>
                <a:spcPts val="1721"/>
              </a:lnSpc>
              <a:buNone/>
            </a:pPr>
            <a:r>
              <a:rPr lang="en-US" sz="1229" b="1" kern="0" spc="100" dirty="0">
                <a:solidFill>
                  <a:srgbClr val="0B6B6A"/>
                </a:solidFill>
                <a:latin typeface="Public Sans" pitchFamily="34" charset="0"/>
                <a:ea typeface="Public Sans" pitchFamily="34" charset="-122"/>
                <a:cs typeface="Public Sans" pitchFamily="34" charset="-120"/>
              </a:rPr>
              <a:t>MATHEMATICAL FRAMEWORK</a:t>
            </a:r>
            <a:endParaRPr lang="en-US" sz="1229" dirty="0"/>
          </a:p>
        </p:txBody>
      </p:sp>
      <p:sp>
        <p:nvSpPr>
          <p:cNvPr id="3" name="Text 1"/>
          <p:cNvSpPr>
            <a:spLocks noGrp="1"/>
          </p:cNvSpPr>
          <p:nvPr>
            <p:ph type="title"/>
          </p:nvPr>
        </p:nvSpPr>
        <p:spPr>
          <a:xfrm>
            <a:off x="812800" y="1231426"/>
            <a:ext cx="10883392" cy="379413"/>
          </a:xfrm>
          <a:prstGeom prst="rect">
            <a:avLst/>
          </a:prstGeom>
          <a:noFill/>
          <a:ln/>
        </p:spPr>
        <p:txBody>
          <a:bodyPr wrap="square" lIns="0" tIns="0" rIns="0" bIns="0" rtlCol="0" anchor="t">
            <a:normAutofit/>
          </a:bodyPr>
          <a:lstStyle/>
          <a:p>
            <a:pPr marL="0" indent="0" algn="l">
              <a:lnSpc>
                <a:spcPts val="2817"/>
              </a:lnSpc>
              <a:buNone/>
            </a:pPr>
            <a:r>
              <a:rPr lang="en-US" sz="2450" b="1" i="0" dirty="0">
                <a:solidFill>
                  <a:srgbClr val="14202F"/>
                </a:solidFill>
                <a:latin typeface="Libre Baskerville" pitchFamily="18" charset="0"/>
                <a:ea typeface="Libre Baskerville" pitchFamily="18" charset="-122"/>
                <a:cs typeface="Libre Baskerville" pitchFamily="18" charset="-120"/>
              </a:rPr>
              <a:t>The maths behind the flag, in three lines</a:t>
            </a:r>
            <a:endParaRPr lang="en-US" sz="2450" dirty="0"/>
          </a:p>
        </p:txBody>
      </p:sp>
      <p:sp>
        <p:nvSpPr>
          <p:cNvPr id="4" name="Shape 2"/>
          <p:cNvSpPr/>
          <p:nvPr/>
        </p:nvSpPr>
        <p:spPr>
          <a:xfrm>
            <a:off x="815975" y="1791813"/>
            <a:ext cx="3414157" cy="3042999"/>
          </a:xfrm>
          <a:prstGeom prst="roundRect">
            <a:avLst>
              <a:gd name="adj" fmla="val 3234"/>
            </a:avLst>
          </a:prstGeom>
          <a:solidFill>
            <a:srgbClr val="FBFAF6"/>
          </a:solidFill>
          <a:ln w="6350">
            <a:solidFill>
              <a:srgbClr val="DDD8CB"/>
            </a:solidFill>
            <a:prstDash val="solid"/>
          </a:ln>
        </p:spPr>
        <p:txBody>
          <a:bodyPr/>
          <a:lstStyle/>
          <a:p>
            <a:endParaRPr lang="en-US"/>
          </a:p>
        </p:txBody>
      </p:sp>
      <p:sp>
        <p:nvSpPr>
          <p:cNvPr id="5" name="Text 3"/>
          <p:cNvSpPr/>
          <p:nvPr/>
        </p:nvSpPr>
        <p:spPr>
          <a:xfrm>
            <a:off x="1046480" y="2022317"/>
            <a:ext cx="304174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01</a:t>
            </a:r>
            <a:endParaRPr lang="en-US" sz="1400" dirty="0"/>
          </a:p>
        </p:txBody>
      </p:sp>
      <p:sp>
        <p:nvSpPr>
          <p:cNvPr id="6" name="Text 4"/>
          <p:cNvSpPr/>
          <p:nvPr/>
        </p:nvSpPr>
        <p:spPr>
          <a:xfrm>
            <a:off x="1046480" y="2372838"/>
            <a:ext cx="304174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02F"/>
                </a:solidFill>
                <a:latin typeface="Libre Baskerville" pitchFamily="18" charset="0"/>
                <a:ea typeface="Libre Baskerville" pitchFamily="18" charset="-122"/>
                <a:cs typeface="Libre Baskerville" pitchFamily="18" charset="-120"/>
              </a:rPr>
              <a:t>Concentration (HHI)</a:t>
            </a:r>
            <a:endParaRPr lang="en-US" sz="1700" dirty="0"/>
          </a:p>
        </p:txBody>
      </p:sp>
      <p:sp>
        <p:nvSpPr>
          <p:cNvPr id="7" name="Text 5"/>
          <p:cNvSpPr/>
          <p:nvPr/>
        </p:nvSpPr>
        <p:spPr>
          <a:xfrm>
            <a:off x="1049655" y="2736692"/>
            <a:ext cx="2946797" cy="532130"/>
          </a:xfrm>
          <a:prstGeom prst="roundRect">
            <a:avLst>
              <a:gd name="adj" fmla="val 8950"/>
            </a:avLst>
          </a:prstGeom>
          <a:solidFill>
            <a:srgbClr val="FFFFFF"/>
          </a:solidFill>
          <a:ln w="6350">
            <a:solidFill>
              <a:srgbClr val="DDD8CB"/>
            </a:solidFill>
            <a:prstDash val="solid"/>
          </a:ln>
        </p:spPr>
        <p:txBody>
          <a:bodyPr wrap="square" lIns="140356" tIns="114956" rIns="61211" bIns="89556" rtlCol="0" anchor="t">
            <a:normAutofit/>
          </a:bodyPr>
          <a:lstStyle/>
          <a:p>
            <a:pPr marL="0" indent="0" algn="l">
              <a:lnSpc>
                <a:spcPts val="2160"/>
              </a:lnSpc>
              <a:buNone/>
            </a:pPr>
            <a:r>
              <a:rPr lang="en-US" sz="1600" b="1" dirty="0">
                <a:solidFill>
                  <a:srgbClr val="0B6B6A"/>
                </a:solidFill>
                <a:latin typeface="Libre Baskerville" pitchFamily="18" charset="0"/>
                <a:ea typeface="Libre Baskerville" pitchFamily="18" charset="-122"/>
                <a:cs typeface="Libre Baskerville" pitchFamily="18" charset="-120"/>
              </a:rPr>
              <a:t>H = Σ wᵢ²</a:t>
            </a:r>
            <a:endParaRPr lang="en-US" sz="1600" dirty="0"/>
          </a:p>
        </p:txBody>
      </p:sp>
      <p:sp>
        <p:nvSpPr>
          <p:cNvPr id="8" name="Text 6"/>
          <p:cNvSpPr/>
          <p:nvPr/>
        </p:nvSpPr>
        <p:spPr>
          <a:xfrm>
            <a:off x="1046480" y="3373596"/>
            <a:ext cx="3041741" cy="11811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wᵢ is each holding's share of the portfolio. H is 1 for a single holding. 1/H is the effective number of holdings: H = 0.25 acts like four equal stocks.</a:t>
            </a:r>
            <a:endParaRPr lang="en-US" sz="1300" dirty="0"/>
          </a:p>
        </p:txBody>
      </p:sp>
      <p:sp>
        <p:nvSpPr>
          <p:cNvPr id="9" name="Shape 7"/>
          <p:cNvSpPr/>
          <p:nvPr/>
        </p:nvSpPr>
        <p:spPr>
          <a:xfrm>
            <a:off x="4388882" y="1791813"/>
            <a:ext cx="3414236" cy="3042999"/>
          </a:xfrm>
          <a:prstGeom prst="roundRect">
            <a:avLst>
              <a:gd name="adj" fmla="val 3234"/>
            </a:avLst>
          </a:prstGeom>
          <a:solidFill>
            <a:srgbClr val="FBFAF6"/>
          </a:solidFill>
          <a:ln w="6350">
            <a:solidFill>
              <a:srgbClr val="DDD8CB"/>
            </a:solidFill>
            <a:prstDash val="solid"/>
          </a:ln>
        </p:spPr>
        <p:txBody>
          <a:bodyPr/>
          <a:lstStyle/>
          <a:p>
            <a:endParaRPr lang="en-US"/>
          </a:p>
        </p:txBody>
      </p:sp>
      <p:sp>
        <p:nvSpPr>
          <p:cNvPr id="10" name="Text 8"/>
          <p:cNvSpPr/>
          <p:nvPr/>
        </p:nvSpPr>
        <p:spPr>
          <a:xfrm>
            <a:off x="4619387" y="2022317"/>
            <a:ext cx="3041823" cy="251936"/>
          </a:xfrm>
          <a:prstGeom prst="rect">
            <a:avLst/>
          </a:prstGeom>
          <a:noFill/>
          <a:ln/>
        </p:spPr>
        <p:txBody>
          <a:bodyPr wrap="square" lIns="0" tIns="0" rIns="0" bIns="0" rtlCol="0" anchor="t">
            <a:normAutofit/>
          </a:bodyPr>
          <a:lstStyle/>
          <a:p>
            <a:pPr marL="0" indent="0" algn="l">
              <a:lnSpc>
                <a:spcPts val="1819"/>
              </a:lnSpc>
              <a:buNone/>
            </a:pPr>
            <a:r>
              <a:rPr lang="en-US" sz="1299" b="1" dirty="0">
                <a:solidFill>
                  <a:srgbClr val="0B6B6A"/>
                </a:solidFill>
                <a:latin typeface="Public Sans" pitchFamily="34" charset="0"/>
                <a:ea typeface="Public Sans" pitchFamily="34" charset="-122"/>
                <a:cs typeface="Public Sans" pitchFamily="34" charset="-120"/>
              </a:rPr>
              <a:t>02</a:t>
            </a:r>
            <a:endParaRPr lang="en-US" sz="1299" dirty="0"/>
          </a:p>
        </p:txBody>
      </p:sp>
      <p:sp>
        <p:nvSpPr>
          <p:cNvPr id="11" name="Text 9"/>
          <p:cNvSpPr/>
          <p:nvPr/>
        </p:nvSpPr>
        <p:spPr>
          <a:xfrm>
            <a:off x="4619387" y="2350452"/>
            <a:ext cx="3041823" cy="261144"/>
          </a:xfrm>
          <a:prstGeom prst="rect">
            <a:avLst/>
          </a:prstGeom>
          <a:noFill/>
          <a:ln/>
        </p:spPr>
        <p:txBody>
          <a:bodyPr wrap="square" lIns="0" tIns="0" rIns="0" bIns="0" rtlCol="0" anchor="t">
            <a:normAutofit/>
          </a:bodyPr>
          <a:lstStyle/>
          <a:p>
            <a:pPr marL="0" indent="0" algn="l">
              <a:lnSpc>
                <a:spcPts val="1874"/>
              </a:lnSpc>
              <a:buNone/>
            </a:pPr>
            <a:r>
              <a:rPr lang="en-US" sz="1562" b="1" dirty="0">
                <a:solidFill>
                  <a:srgbClr val="14202F"/>
                </a:solidFill>
                <a:latin typeface="Libre Baskerville" pitchFamily="18" charset="0"/>
                <a:ea typeface="Libre Baskerville" pitchFamily="18" charset="-122"/>
                <a:cs typeface="Libre Baskerville" pitchFamily="18" charset="-120"/>
              </a:rPr>
              <a:t>Why two features overlap</a:t>
            </a:r>
            <a:endParaRPr lang="en-US" sz="1562" dirty="0"/>
          </a:p>
        </p:txBody>
      </p:sp>
      <p:sp>
        <p:nvSpPr>
          <p:cNvPr id="12" name="Shape 10"/>
          <p:cNvSpPr/>
          <p:nvPr/>
        </p:nvSpPr>
        <p:spPr>
          <a:xfrm>
            <a:off x="4622562" y="2690971"/>
            <a:ext cx="2946876" cy="756999"/>
          </a:xfrm>
          <a:prstGeom prst="roundRect">
            <a:avLst>
              <a:gd name="adj" fmla="val 6291"/>
            </a:avLst>
          </a:prstGeom>
          <a:solidFill>
            <a:srgbClr val="FFFFFF"/>
          </a:solidFill>
          <a:ln w="6350">
            <a:solidFill>
              <a:srgbClr val="DDD8CB"/>
            </a:solidFill>
            <a:prstDash val="solid"/>
          </a:ln>
        </p:spPr>
        <p:txBody>
          <a:bodyPr/>
          <a:lstStyle/>
          <a:p>
            <a:endParaRPr lang="en-US"/>
          </a:p>
        </p:txBody>
      </p:sp>
      <p:sp>
        <p:nvSpPr>
          <p:cNvPr id="13" name="Text 11"/>
          <p:cNvSpPr/>
          <p:nvPr/>
        </p:nvSpPr>
        <p:spPr>
          <a:xfrm>
            <a:off x="4776867" y="2819877"/>
            <a:ext cx="2717414" cy="524589"/>
          </a:xfrm>
          <a:prstGeom prst="rect">
            <a:avLst/>
          </a:prstGeom>
          <a:noFill/>
          <a:ln/>
        </p:spPr>
        <p:txBody>
          <a:bodyPr wrap="square" lIns="0" tIns="0" rIns="0" bIns="0" rtlCol="0" anchor="t">
            <a:normAutofit/>
          </a:bodyPr>
          <a:lstStyle/>
          <a:p>
            <a:pPr marL="0" indent="0" algn="l">
              <a:lnSpc>
                <a:spcPts val="1985"/>
              </a:lnSpc>
              <a:buNone/>
            </a:pPr>
            <a:r>
              <a:rPr lang="en-US" sz="1470" b="1" dirty="0">
                <a:solidFill>
                  <a:srgbClr val="0B6B6A"/>
                </a:solidFill>
                <a:latin typeface="Libre Baskerville" pitchFamily="18" charset="0"/>
                <a:ea typeface="Libre Baskerville" pitchFamily="18" charset="-122"/>
                <a:cs typeface="Libre Baskerville" pitchFamily="18" charset="-120"/>
              </a:rPr>
              <a:t>(largest weight)² ≤ H ≤ largest weight</a:t>
            </a:r>
            <a:endParaRPr lang="en-US" sz="1470" dirty="0"/>
          </a:p>
        </p:txBody>
      </p:sp>
      <p:sp>
        <p:nvSpPr>
          <p:cNvPr id="14" name="Text 12"/>
          <p:cNvSpPr/>
          <p:nvPr/>
        </p:nvSpPr>
        <p:spPr>
          <a:xfrm>
            <a:off x="4619387" y="3552747"/>
            <a:ext cx="3041823" cy="1076960"/>
          </a:xfrm>
          <a:prstGeom prst="rect">
            <a:avLst/>
          </a:prstGeom>
          <a:noFill/>
          <a:ln/>
        </p:spPr>
        <p:txBody>
          <a:bodyPr wrap="square" lIns="0" tIns="0" rIns="0" bIns="0" rtlCol="0" anchor="t">
            <a:normAutofit/>
          </a:bodyPr>
          <a:lstStyle/>
          <a:p>
            <a:pPr marL="0" indent="0" algn="l">
              <a:lnSpc>
                <a:spcPts val="1661"/>
              </a:lnSpc>
              <a:buNone/>
            </a:pPr>
            <a:r>
              <a:rPr lang="en-US" sz="1186" dirty="0">
                <a:solidFill>
                  <a:srgbClr val="4A5568"/>
                </a:solidFill>
                <a:latin typeface="Public Sans" pitchFamily="34" charset="0"/>
                <a:ea typeface="Public Sans" pitchFamily="34" charset="-122"/>
                <a:cs typeface="Public Sans" pitchFamily="34" charset="-120"/>
              </a:rPr>
              <a:t>When one holding dominates, both bounds meet, so HHI and top-holding weight are almost the same signal (correlation 0.96). That unsettles Logistic Regression but not XGBoost.</a:t>
            </a:r>
            <a:endParaRPr lang="en-US" sz="1186" dirty="0"/>
          </a:p>
        </p:txBody>
      </p:sp>
      <p:sp>
        <p:nvSpPr>
          <p:cNvPr id="15" name="Shape 13"/>
          <p:cNvSpPr/>
          <p:nvPr/>
        </p:nvSpPr>
        <p:spPr>
          <a:xfrm>
            <a:off x="7961868" y="1791813"/>
            <a:ext cx="3414157" cy="3042999"/>
          </a:xfrm>
          <a:prstGeom prst="roundRect">
            <a:avLst>
              <a:gd name="adj" fmla="val 3234"/>
            </a:avLst>
          </a:prstGeom>
          <a:solidFill>
            <a:srgbClr val="FBFAF6"/>
          </a:solidFill>
          <a:ln w="6350">
            <a:solidFill>
              <a:srgbClr val="DDD8CB"/>
            </a:solidFill>
            <a:prstDash val="solid"/>
          </a:ln>
        </p:spPr>
        <p:txBody>
          <a:bodyPr/>
          <a:lstStyle/>
          <a:p>
            <a:endParaRPr lang="en-US"/>
          </a:p>
        </p:txBody>
      </p:sp>
      <p:sp>
        <p:nvSpPr>
          <p:cNvPr id="16" name="Text 14"/>
          <p:cNvSpPr/>
          <p:nvPr/>
        </p:nvSpPr>
        <p:spPr>
          <a:xfrm>
            <a:off x="8192374" y="2022317"/>
            <a:ext cx="3041741" cy="226933"/>
          </a:xfrm>
          <a:prstGeom prst="rect">
            <a:avLst/>
          </a:prstGeom>
          <a:noFill/>
          <a:ln/>
        </p:spPr>
        <p:txBody>
          <a:bodyPr wrap="square" lIns="0" tIns="0" rIns="0" bIns="0" rtlCol="0" anchor="t">
            <a:normAutofit/>
          </a:bodyPr>
          <a:lstStyle/>
          <a:p>
            <a:pPr marL="0" indent="0" algn="l">
              <a:lnSpc>
                <a:spcPts val="1623"/>
              </a:lnSpc>
              <a:buNone/>
            </a:pPr>
            <a:r>
              <a:rPr lang="en-US" sz="1159" b="1" dirty="0">
                <a:solidFill>
                  <a:srgbClr val="0B6B6A"/>
                </a:solidFill>
                <a:latin typeface="Public Sans" pitchFamily="34" charset="0"/>
                <a:ea typeface="Public Sans" pitchFamily="34" charset="-122"/>
                <a:cs typeface="Public Sans" pitchFamily="34" charset="-120"/>
              </a:rPr>
              <a:t>03</a:t>
            </a:r>
            <a:endParaRPr lang="en-US" sz="1159" dirty="0"/>
          </a:p>
        </p:txBody>
      </p:sp>
      <p:sp>
        <p:nvSpPr>
          <p:cNvPr id="17" name="Text 15"/>
          <p:cNvSpPr/>
          <p:nvPr/>
        </p:nvSpPr>
        <p:spPr>
          <a:xfrm>
            <a:off x="8192374" y="2325449"/>
            <a:ext cx="3041741" cy="235109"/>
          </a:xfrm>
          <a:prstGeom prst="rect">
            <a:avLst/>
          </a:prstGeom>
          <a:noFill/>
          <a:ln/>
        </p:spPr>
        <p:txBody>
          <a:bodyPr wrap="square" lIns="0" tIns="0" rIns="0" bIns="0" rtlCol="0" anchor="t">
            <a:normAutofit/>
          </a:bodyPr>
          <a:lstStyle/>
          <a:p>
            <a:pPr marL="0" indent="0" algn="l">
              <a:lnSpc>
                <a:spcPts val="1670"/>
              </a:lnSpc>
              <a:buNone/>
            </a:pPr>
            <a:r>
              <a:rPr lang="en-US" sz="1392" b="1" dirty="0">
                <a:solidFill>
                  <a:srgbClr val="14202F"/>
                </a:solidFill>
                <a:latin typeface="Libre Baskerville" pitchFamily="18" charset="0"/>
                <a:ea typeface="Libre Baskerville" pitchFamily="18" charset="-122"/>
                <a:cs typeface="Libre Baskerville" pitchFamily="18" charset="-120"/>
              </a:rPr>
              <a:t>The SS2 label</a:t>
            </a:r>
            <a:endParaRPr lang="en-US" sz="1392" dirty="0"/>
          </a:p>
        </p:txBody>
      </p:sp>
      <p:sp>
        <p:nvSpPr>
          <p:cNvPr id="18" name="Text 16"/>
          <p:cNvSpPr/>
          <p:nvPr/>
        </p:nvSpPr>
        <p:spPr>
          <a:xfrm>
            <a:off x="8195549" y="2639935"/>
            <a:ext cx="2946797" cy="924004"/>
          </a:xfrm>
          <a:prstGeom prst="roundRect">
            <a:avLst>
              <a:gd name="adj" fmla="val 5154"/>
            </a:avLst>
          </a:prstGeom>
          <a:solidFill>
            <a:srgbClr val="FFFFFF"/>
          </a:solidFill>
          <a:ln w="6350">
            <a:solidFill>
              <a:srgbClr val="DDD8CB"/>
            </a:solidFill>
            <a:prstDash val="solid"/>
          </a:ln>
        </p:spPr>
        <p:txBody>
          <a:bodyPr wrap="square" lIns="140356" tIns="114956" rIns="61211" bIns="89556" rtlCol="0" anchor="t">
            <a:normAutofit/>
          </a:bodyPr>
          <a:lstStyle/>
          <a:p>
            <a:pPr marL="0" indent="0" algn="l">
              <a:lnSpc>
                <a:spcPts val="1755"/>
              </a:lnSpc>
              <a:buNone/>
            </a:pPr>
            <a:r>
              <a:rPr lang="en-US" sz="1300" b="1" dirty="0">
                <a:solidFill>
                  <a:srgbClr val="0B6B6A"/>
                </a:solidFill>
                <a:latin typeface="Libre Baskerville" pitchFamily="18" charset="0"/>
                <a:ea typeface="Libre Baskerville" pitchFamily="18" charset="-122"/>
                <a:cs typeface="Libre Baskerville" pitchFamily="18" charset="-120"/>
              </a:rPr>
              <a:t>Excess return = Σ wᵢ (rᵢ − market)</a:t>
            </a:r>
            <a:endParaRPr lang="en-US" sz="1300" dirty="0"/>
          </a:p>
          <a:p>
            <a:pPr marL="0" indent="0" algn="l">
              <a:lnSpc>
                <a:spcPts val="1755"/>
              </a:lnSpc>
              <a:buNone/>
            </a:pPr>
            <a:r>
              <a:rPr lang="en-US" sz="1300" b="1" dirty="0">
                <a:solidFill>
                  <a:srgbClr val="0B6B6A"/>
                </a:solidFill>
                <a:latin typeface="Libre Baskerville" pitchFamily="18" charset="0"/>
                <a:ea typeface="Libre Baskerville" pitchFamily="18" charset="-122"/>
                <a:cs typeface="Libre Baskerville" pitchFamily="18" charset="-120"/>
              </a:rPr>
              <a:t>High risk if below −5%</a:t>
            </a:r>
            <a:endParaRPr lang="en-US" sz="1300" dirty="0"/>
          </a:p>
        </p:txBody>
      </p:sp>
      <p:sp>
        <p:nvSpPr>
          <p:cNvPr id="19" name="Text 17"/>
          <p:cNvSpPr/>
          <p:nvPr/>
        </p:nvSpPr>
        <p:spPr>
          <a:xfrm>
            <a:off x="8192374" y="3668713"/>
            <a:ext cx="3041741" cy="960993"/>
          </a:xfrm>
          <a:prstGeom prst="rect">
            <a:avLst/>
          </a:prstGeom>
          <a:noFill/>
          <a:ln/>
        </p:spPr>
        <p:txBody>
          <a:bodyPr wrap="square" lIns="0" tIns="0" rIns="0" bIns="0" rtlCol="0" anchor="t">
            <a:normAutofit/>
          </a:bodyPr>
          <a:lstStyle/>
          <a:p>
            <a:pPr marL="0" indent="0" algn="l">
              <a:lnSpc>
                <a:spcPts val="1763"/>
              </a:lnSpc>
              <a:buNone/>
            </a:pPr>
            <a:r>
              <a:rPr lang="en-US" sz="1259" dirty="0">
                <a:solidFill>
                  <a:srgbClr val="4A5568"/>
                </a:solidFill>
                <a:latin typeface="Public Sans" pitchFamily="34" charset="0"/>
                <a:ea typeface="Public Sans" pitchFamily="34" charset="-122"/>
                <a:cs typeface="Public Sans" pitchFamily="34" charset="-120"/>
              </a:rPr>
              <a:t>A fall counts in proportion to its weight: 40% down costs an 80% holding 32 points, but a 2% holding under 1 point. Returns start 45 days after quarter-end.</a:t>
            </a:r>
            <a:endParaRPr lang="en-US" sz="1259" dirty="0"/>
          </a:p>
        </p:txBody>
      </p:sp>
      <p:sp>
        <p:nvSpPr>
          <p:cNvPr id="20" name="Text 18"/>
          <p:cNvSpPr/>
          <p:nvPr/>
        </p:nvSpPr>
        <p:spPr>
          <a:xfrm>
            <a:off x="812800" y="5041187"/>
            <a:ext cx="10566400" cy="800814"/>
          </a:xfrm>
          <a:prstGeom prst="roundRect">
            <a:avLst>
              <a:gd name="adj" fmla="val 12687"/>
            </a:avLst>
          </a:prstGeom>
          <a:solidFill>
            <a:srgbClr val="E3A72F"/>
          </a:solidFill>
          <a:ln/>
        </p:spPr>
        <p:txBody>
          <a:bodyPr wrap="square" lIns="224242" tIns="148042" rIns="0" bIns="122642" rtlCol="0" anchor="t">
            <a:normAutofit/>
          </a:bodyPr>
          <a:lstStyle/>
          <a:p>
            <a:pPr marL="0" indent="0" algn="l">
              <a:lnSpc>
                <a:spcPts val="1759"/>
              </a:lnSpc>
              <a:buNone/>
            </a:pPr>
            <a:r>
              <a:rPr lang="en-US" sz="1303" b="1" dirty="0">
                <a:solidFill>
                  <a:srgbClr val="14202F"/>
                </a:solidFill>
                <a:latin typeface="Public Sans" pitchFamily="34" charset="0"/>
                <a:ea typeface="Public Sans" pitchFamily="34" charset="-122"/>
                <a:cs typeface="Public Sans" pitchFamily="34" charset="-120"/>
              </a:rPr>
              <a:t>SS3 flag: stated risk appetite Low and HHI above 0.25. We checked it against the complaint records and found no link (p = 0.74), so it stays a business-defined rule.</a:t>
            </a:r>
            <a:endParaRPr lang="en-US" sz="1303" dirty="0"/>
          </a:p>
        </p:txBody>
      </p:sp>
      <p:sp>
        <p:nvSpPr>
          <p:cNvPr id="21" name="Text 19"/>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22" name="Text 20"/>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6 / 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B6A"/>
                </a:solidFill>
                <a:latin typeface="Public Sans" pitchFamily="34" charset="0"/>
                <a:ea typeface="Public Sans" pitchFamily="34" charset="-122"/>
                <a:cs typeface="Public Sans" pitchFamily="34" charset="-120"/>
              </a:rPr>
              <a:t>EXPLORATORY ANALYSIS · KEY INSIGHTS</a:t>
            </a:r>
            <a:endParaRPr lang="en-US" sz="1400" dirty="0"/>
          </a:p>
        </p:txBody>
      </p:sp>
      <p:sp>
        <p:nvSpPr>
          <p:cNvPr id="3" name="Text 1"/>
          <p:cNvSpPr>
            <a:spLocks noGrp="1"/>
          </p:cNvSpPr>
          <p:nvPr>
            <p:ph type="title"/>
          </p:nvPr>
        </p:nvSpPr>
        <p:spPr>
          <a:xfrm>
            <a:off x="812800" y="126492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Who gets flagged, and what the data does not show</a:t>
            </a:r>
            <a:endParaRPr lang="en-US" sz="2800" dirty="0"/>
          </a:p>
        </p:txBody>
      </p:sp>
      <p:sp>
        <p:nvSpPr>
          <p:cNvPr id="4" name="Shape 2"/>
          <p:cNvSpPr/>
          <p:nvPr/>
        </p:nvSpPr>
        <p:spPr>
          <a:xfrm>
            <a:off x="812800" y="1877061"/>
            <a:ext cx="4978400" cy="3530600"/>
          </a:xfrm>
          <a:prstGeom prst="roundRect">
            <a:avLst>
              <a:gd name="adj" fmla="val 1439"/>
            </a:avLst>
          </a:prstGeom>
          <a:solidFill>
            <a:srgbClr val="FFFFFF"/>
          </a:solidFill>
          <a:ln/>
        </p:spPr>
        <p:txBody>
          <a:bodyPr/>
          <a:lstStyle/>
          <a:p>
            <a:endParaRPr lang="en-US"/>
          </a:p>
        </p:txBody>
      </p:sp>
      <p:pic>
        <p:nvPicPr>
          <p:cNvPr id="5" name="Image 0" descr="Box plot of portfolio concentration (HHI) by stated risk appetite: Low, Moderate and High"/>
          <p:cNvPicPr>
            <a:picLocks noChangeAspect="1"/>
          </p:cNvPicPr>
          <p:nvPr/>
        </p:nvPicPr>
        <p:blipFill>
          <a:blip r:embed="rId3"/>
          <a:srcRect l="-32" r="-32"/>
          <a:stretch/>
        </p:blipFill>
        <p:spPr>
          <a:xfrm>
            <a:off x="819150" y="1883411"/>
            <a:ext cx="4965700" cy="3517900"/>
          </a:xfrm>
          <a:prstGeom prst="roundRect">
            <a:avLst>
              <a:gd name="adj" fmla="val 1264"/>
            </a:avLst>
          </a:prstGeom>
        </p:spPr>
      </p:pic>
      <p:sp>
        <p:nvSpPr>
          <p:cNvPr id="6" name="Shape 3"/>
          <p:cNvSpPr/>
          <p:nvPr/>
        </p:nvSpPr>
        <p:spPr>
          <a:xfrm>
            <a:off x="815975" y="1880236"/>
            <a:ext cx="4972050" cy="3524250"/>
          </a:xfrm>
          <a:prstGeom prst="roundRect">
            <a:avLst>
              <a:gd name="adj" fmla="val 1351"/>
            </a:avLst>
          </a:prstGeom>
          <a:noFill/>
          <a:ln w="6350">
            <a:solidFill>
              <a:srgbClr val="DDD8CB"/>
            </a:solidFill>
            <a:prstDash val="solid"/>
          </a:ln>
        </p:spPr>
        <p:txBody>
          <a:bodyPr/>
          <a:lstStyle/>
          <a:p>
            <a:endParaRPr lang="en-US"/>
          </a:p>
        </p:txBody>
      </p:sp>
      <p:sp>
        <p:nvSpPr>
          <p:cNvPr id="7" name="Shape 4"/>
          <p:cNvSpPr/>
          <p:nvPr/>
        </p:nvSpPr>
        <p:spPr>
          <a:xfrm>
            <a:off x="6048375" y="1880236"/>
            <a:ext cx="5327650" cy="1230630"/>
          </a:xfrm>
          <a:prstGeom prst="roundRect">
            <a:avLst>
              <a:gd name="adj" fmla="val 7998"/>
            </a:avLst>
          </a:prstGeom>
          <a:solidFill>
            <a:srgbClr val="FBFAF6"/>
          </a:solidFill>
          <a:ln w="6350">
            <a:solidFill>
              <a:srgbClr val="DDD8CB"/>
            </a:solidFill>
            <a:prstDash val="solid"/>
          </a:ln>
        </p:spPr>
        <p:txBody>
          <a:bodyPr/>
          <a:lstStyle/>
          <a:p>
            <a:endParaRPr lang="en-US"/>
          </a:p>
        </p:txBody>
      </p:sp>
      <p:sp>
        <p:nvSpPr>
          <p:cNvPr id="8" name="Text 5"/>
          <p:cNvSpPr/>
          <p:nvPr/>
        </p:nvSpPr>
        <p:spPr>
          <a:xfrm>
            <a:off x="6228080" y="2009139"/>
            <a:ext cx="511728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F"/>
                </a:solidFill>
                <a:latin typeface="Libre Baskerville" pitchFamily="18" charset="0"/>
                <a:ea typeface="Libre Baskerville" pitchFamily="18" charset="-122"/>
                <a:cs typeface="Libre Baskerville" pitchFamily="18" charset="-120"/>
              </a:rPr>
              <a:t>Appetite and behaviour differ</a:t>
            </a:r>
            <a:endParaRPr lang="en-US" sz="1500" dirty="0"/>
          </a:p>
        </p:txBody>
      </p:sp>
      <p:sp>
        <p:nvSpPr>
          <p:cNvPr id="9" name="Text 6"/>
          <p:cNvSpPr/>
          <p:nvPr/>
        </p:nvSpPr>
        <p:spPr>
          <a:xfrm>
            <a:off x="6228080" y="2288539"/>
            <a:ext cx="5117287"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Most Low-appetite clients are not very concentrated, but a few hold portfolios with HHI near 1.0. These mismatches are the clients we flag.</a:t>
            </a:r>
            <a:endParaRPr lang="en-US" sz="1300" dirty="0"/>
          </a:p>
        </p:txBody>
      </p:sp>
      <p:sp>
        <p:nvSpPr>
          <p:cNvPr id="10" name="Shape 7"/>
          <p:cNvSpPr/>
          <p:nvPr/>
        </p:nvSpPr>
        <p:spPr>
          <a:xfrm>
            <a:off x="6048375" y="3218814"/>
            <a:ext cx="5327650" cy="768350"/>
          </a:xfrm>
          <a:prstGeom prst="roundRect">
            <a:avLst>
              <a:gd name="adj" fmla="val 12810"/>
            </a:avLst>
          </a:prstGeom>
          <a:solidFill>
            <a:srgbClr val="FBFAF6"/>
          </a:solidFill>
          <a:ln w="6350">
            <a:solidFill>
              <a:srgbClr val="DDD8CB"/>
            </a:solidFill>
            <a:prstDash val="solid"/>
          </a:ln>
        </p:spPr>
        <p:txBody>
          <a:bodyPr/>
          <a:lstStyle/>
          <a:p>
            <a:endParaRPr lang="en-US"/>
          </a:p>
        </p:txBody>
      </p:sp>
      <p:sp>
        <p:nvSpPr>
          <p:cNvPr id="11" name="Text 8"/>
          <p:cNvSpPr/>
          <p:nvPr/>
        </p:nvSpPr>
        <p:spPr>
          <a:xfrm>
            <a:off x="6228080" y="3347721"/>
            <a:ext cx="511728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F"/>
                </a:solidFill>
                <a:latin typeface="Libre Baskerville" pitchFamily="18" charset="0"/>
                <a:ea typeface="Libre Baskerville" pitchFamily="18" charset="-122"/>
                <a:cs typeface="Libre Baskerville" pitchFamily="18" charset="-120"/>
              </a:rPr>
              <a:t>17 of 418 clients flagged</a:t>
            </a:r>
            <a:endParaRPr lang="en-US" sz="1500" dirty="0"/>
          </a:p>
        </p:txBody>
      </p:sp>
      <p:sp>
        <p:nvSpPr>
          <p:cNvPr id="12" name="Text 9"/>
          <p:cNvSpPr/>
          <p:nvPr/>
        </p:nvSpPr>
        <p:spPr>
          <a:xfrm>
            <a:off x="6228080" y="3627121"/>
            <a:ext cx="514477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Low stated risk appetite (106 clients) and HHI above 0.25: 4.07%.</a:t>
            </a:r>
            <a:endParaRPr lang="en-US" sz="1300" dirty="0"/>
          </a:p>
        </p:txBody>
      </p:sp>
      <p:sp>
        <p:nvSpPr>
          <p:cNvPr id="13" name="Shape 10"/>
          <p:cNvSpPr/>
          <p:nvPr/>
        </p:nvSpPr>
        <p:spPr>
          <a:xfrm>
            <a:off x="6048375" y="4095114"/>
            <a:ext cx="5327650" cy="999490"/>
          </a:xfrm>
          <a:prstGeom prst="roundRect">
            <a:avLst>
              <a:gd name="adj" fmla="val 9848"/>
            </a:avLst>
          </a:prstGeom>
          <a:solidFill>
            <a:srgbClr val="FBFAF6"/>
          </a:solidFill>
          <a:ln w="6350">
            <a:solidFill>
              <a:srgbClr val="DDD8CB"/>
            </a:solidFill>
            <a:prstDash val="solid"/>
          </a:ln>
        </p:spPr>
        <p:txBody>
          <a:bodyPr/>
          <a:lstStyle/>
          <a:p>
            <a:endParaRPr lang="en-US"/>
          </a:p>
        </p:txBody>
      </p:sp>
      <p:sp>
        <p:nvSpPr>
          <p:cNvPr id="14" name="Text 11"/>
          <p:cNvSpPr/>
          <p:nvPr/>
        </p:nvSpPr>
        <p:spPr>
          <a:xfrm>
            <a:off x="6228080" y="4224021"/>
            <a:ext cx="511728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F"/>
                </a:solidFill>
                <a:latin typeface="Libre Baskerville" pitchFamily="18" charset="0"/>
                <a:ea typeface="Libre Baskerville" pitchFamily="18" charset="-122"/>
                <a:cs typeface="Libre Baskerville" pitchFamily="18" charset="-120"/>
              </a:rPr>
              <a:t>No complaint link</a:t>
            </a:r>
            <a:endParaRPr lang="en-US" sz="1500" dirty="0"/>
          </a:p>
        </p:txBody>
      </p:sp>
      <p:sp>
        <p:nvSpPr>
          <p:cNvPr id="15" name="Text 12"/>
          <p:cNvSpPr/>
          <p:nvPr/>
        </p:nvSpPr>
        <p:spPr>
          <a:xfrm>
            <a:off x="6228080" y="4503421"/>
            <a:ext cx="511728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Clients who complained were not measurably more concentrated (p = 0.74), so the flag is a business rule.</a:t>
            </a:r>
            <a:endParaRPr lang="en-US" sz="1300" dirty="0"/>
          </a:p>
        </p:txBody>
      </p:sp>
      <p:sp>
        <p:nvSpPr>
          <p:cNvPr id="16" name="Text 13"/>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7" name="Text 14"/>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7 / 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B6A"/>
                </a:solidFill>
                <a:latin typeface="Public Sans" pitchFamily="34" charset="0"/>
                <a:ea typeface="Public Sans" pitchFamily="34" charset="-122"/>
                <a:cs typeface="Public Sans" pitchFamily="34" charset="-120"/>
              </a:rPr>
              <a:t>MODEL OR METHOD</a:t>
            </a:r>
            <a:endParaRPr lang="en-US" sz="1400" dirty="0"/>
          </a:p>
        </p:txBody>
      </p:sp>
      <p:sp>
        <p:nvSpPr>
          <p:cNvPr id="3" name="Text 1"/>
          <p:cNvSpPr>
            <a:spLocks noGrp="1"/>
          </p:cNvSpPr>
          <p:nvPr>
            <p:ph type="title"/>
          </p:nvPr>
        </p:nvSpPr>
        <p:spPr>
          <a:xfrm>
            <a:off x="812800" y="126492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Two models, compared on the same time-based test</a:t>
            </a:r>
            <a:endParaRPr lang="en-US" sz="2800" dirty="0"/>
          </a:p>
        </p:txBody>
      </p:sp>
      <p:sp>
        <p:nvSpPr>
          <p:cNvPr id="4" name="Shape 2"/>
          <p:cNvSpPr/>
          <p:nvPr/>
        </p:nvSpPr>
        <p:spPr>
          <a:xfrm>
            <a:off x="815975" y="1880236"/>
            <a:ext cx="5200650" cy="2011680"/>
          </a:xfrm>
          <a:prstGeom prst="roundRect">
            <a:avLst>
              <a:gd name="adj" fmla="val 4893"/>
            </a:avLst>
          </a:prstGeom>
          <a:solidFill>
            <a:srgbClr val="FBFAF6"/>
          </a:solidFill>
          <a:ln w="6350">
            <a:solidFill>
              <a:srgbClr val="DDD8CB"/>
            </a:solidFill>
            <a:prstDash val="solid"/>
          </a:ln>
        </p:spPr>
        <p:txBody>
          <a:bodyPr/>
          <a:lstStyle/>
          <a:p>
            <a:endParaRPr lang="en-US"/>
          </a:p>
        </p:txBody>
      </p:sp>
      <p:sp>
        <p:nvSpPr>
          <p:cNvPr id="5" name="Text 3"/>
          <p:cNvSpPr/>
          <p:nvPr/>
        </p:nvSpPr>
        <p:spPr>
          <a:xfrm>
            <a:off x="1071880" y="2136139"/>
            <a:ext cx="482950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Model 1</a:t>
            </a:r>
            <a:endParaRPr lang="en-US" sz="1400" dirty="0"/>
          </a:p>
        </p:txBody>
      </p:sp>
      <p:sp>
        <p:nvSpPr>
          <p:cNvPr id="6" name="Text 4"/>
          <p:cNvSpPr/>
          <p:nvPr/>
        </p:nvSpPr>
        <p:spPr>
          <a:xfrm>
            <a:off x="1071880" y="2486661"/>
            <a:ext cx="482950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Logistic Regression</a:t>
            </a:r>
            <a:endParaRPr lang="en-US" sz="1800" dirty="0"/>
          </a:p>
        </p:txBody>
      </p:sp>
      <p:sp>
        <p:nvSpPr>
          <p:cNvPr id="7" name="Text 5"/>
          <p:cNvSpPr/>
          <p:nvPr/>
        </p:nvSpPr>
        <p:spPr>
          <a:xfrm>
            <a:off x="1071880" y="2862582"/>
            <a:ext cx="4829505"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8"/>
                </a:solidFill>
                <a:latin typeface="Public Sans" pitchFamily="34" charset="0"/>
                <a:ea typeface="Public Sans" pitchFamily="34" charset="-122"/>
                <a:cs typeface="Public Sans" pitchFamily="34" charset="-120"/>
              </a:rPr>
              <a:t>Adds up weighted evidence from each feature into a risk score. Easy to explain, but correlated features made its HHI weight unstable until it was strongly constrained.</a:t>
            </a:r>
            <a:endParaRPr lang="en-US" sz="1400" dirty="0"/>
          </a:p>
        </p:txBody>
      </p:sp>
      <p:sp>
        <p:nvSpPr>
          <p:cNvPr id="8" name="Shape 6"/>
          <p:cNvSpPr/>
          <p:nvPr/>
        </p:nvSpPr>
        <p:spPr>
          <a:xfrm>
            <a:off x="6175375" y="1880236"/>
            <a:ext cx="5200650" cy="2011680"/>
          </a:xfrm>
          <a:prstGeom prst="roundRect">
            <a:avLst>
              <a:gd name="adj" fmla="val 4893"/>
            </a:avLst>
          </a:prstGeom>
          <a:solidFill>
            <a:srgbClr val="FBFAF6"/>
          </a:solidFill>
          <a:ln w="6350">
            <a:solidFill>
              <a:srgbClr val="DDD8CB"/>
            </a:solidFill>
            <a:prstDash val="solid"/>
          </a:ln>
        </p:spPr>
        <p:txBody>
          <a:bodyPr/>
          <a:lstStyle/>
          <a:p>
            <a:endParaRPr lang="en-US"/>
          </a:p>
        </p:txBody>
      </p:sp>
      <p:sp>
        <p:nvSpPr>
          <p:cNvPr id="9" name="Text 7"/>
          <p:cNvSpPr/>
          <p:nvPr/>
        </p:nvSpPr>
        <p:spPr>
          <a:xfrm>
            <a:off x="6431280" y="2136139"/>
            <a:ext cx="482950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Model 2</a:t>
            </a:r>
            <a:endParaRPr lang="en-US" sz="1400" dirty="0"/>
          </a:p>
        </p:txBody>
      </p:sp>
      <p:sp>
        <p:nvSpPr>
          <p:cNvPr id="10" name="Text 8"/>
          <p:cNvSpPr/>
          <p:nvPr/>
        </p:nvSpPr>
        <p:spPr>
          <a:xfrm>
            <a:off x="6431280" y="2486661"/>
            <a:ext cx="482950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XGBoost</a:t>
            </a:r>
            <a:endParaRPr lang="en-US" sz="1800" dirty="0"/>
          </a:p>
        </p:txBody>
      </p:sp>
      <p:sp>
        <p:nvSpPr>
          <p:cNvPr id="11" name="Text 9"/>
          <p:cNvSpPr/>
          <p:nvPr/>
        </p:nvSpPr>
        <p:spPr>
          <a:xfrm>
            <a:off x="6431280" y="2862582"/>
            <a:ext cx="4829505"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8"/>
                </a:solidFill>
                <a:latin typeface="Public Sans" pitchFamily="34" charset="0"/>
                <a:ea typeface="Public Sans" pitchFamily="34" charset="-122"/>
                <a:cs typeface="Public Sans" pitchFamily="34" charset="-120"/>
              </a:rPr>
              <a:t>Builds many small decision trees, each one correcting the mistakes of the last. It copes with correlated features and picks up non-linear patterns.</a:t>
            </a:r>
            <a:endParaRPr lang="en-US" sz="1400" dirty="0"/>
          </a:p>
        </p:txBody>
      </p:sp>
      <p:sp>
        <p:nvSpPr>
          <p:cNvPr id="12" name="Text 10"/>
          <p:cNvSpPr/>
          <p:nvPr/>
        </p:nvSpPr>
        <p:spPr>
          <a:xfrm>
            <a:off x="812800" y="4098292"/>
            <a:ext cx="10566400" cy="604520"/>
          </a:xfrm>
          <a:prstGeom prst="roundRect">
            <a:avLst>
              <a:gd name="adj" fmla="val 8403"/>
            </a:avLst>
          </a:prstGeom>
          <a:solidFill>
            <a:srgbClr val="FBFAF6"/>
          </a:solidFill>
          <a:ln/>
        </p:spPr>
        <p:txBody>
          <a:bodyPr wrap="square" lIns="264521" tIns="162921" rIns="0" bIns="137521" rtlCol="0" anchor="t">
            <a:normAutofit/>
          </a:bodyPr>
          <a:lstStyle/>
          <a:p>
            <a:pPr marL="0" indent="0" algn="l">
              <a:lnSpc>
                <a:spcPts val="1960"/>
              </a:lnSpc>
              <a:buNone/>
            </a:pPr>
            <a:r>
              <a:rPr lang="en-US" sz="1400" dirty="0">
                <a:solidFill>
                  <a:srgbClr val="14202F"/>
                </a:solidFill>
                <a:latin typeface="Public Sans" pitchFamily="34" charset="0"/>
                <a:ea typeface="Public Sans" pitchFamily="34" charset="-122"/>
                <a:cs typeface="Public Sans" pitchFamily="34" charset="-120"/>
              </a:rPr>
              <a:t>Both were trained on the 2015 to 2016 quarters and tested on the 2017 quarters, so the test looks like the future.</a:t>
            </a:r>
            <a:endParaRPr lang="en-US" sz="1400" dirty="0"/>
          </a:p>
        </p:txBody>
      </p:sp>
      <p:sp>
        <p:nvSpPr>
          <p:cNvPr id="13" name="Shape 11"/>
          <p:cNvSpPr/>
          <p:nvPr/>
        </p:nvSpPr>
        <p:spPr>
          <a:xfrm>
            <a:off x="812800" y="4098292"/>
            <a:ext cx="10566400" cy="604520"/>
          </a:xfrm>
          <a:custGeom>
            <a:avLst/>
            <a:gdLst/>
            <a:ahLst/>
            <a:cxnLst/>
            <a:rect l="l" t="t" r="r" b="b"/>
            <a:pathLst>
              <a:path w="10566400" h="604520">
                <a:moveTo>
                  <a:pt x="50800" y="604520"/>
                </a:moveTo>
                <a:lnTo>
                  <a:pt x="50800" y="604520"/>
                </a:lnTo>
                <a:arcTo wR="50800" hR="50800" stAng="5400000" swAng="5400000"/>
                <a:lnTo>
                  <a:pt x="0" y="50800"/>
                </a:lnTo>
                <a:arcTo wR="50800" hR="50800" stAng="10800000" swAng="5400000"/>
                <a:lnTo>
                  <a:pt x="50800" y="0"/>
                </a:lnTo>
                <a:lnTo>
                  <a:pt x="50800" y="604520"/>
                </a:lnTo>
                <a:close/>
              </a:path>
            </a:pathLst>
          </a:custGeom>
          <a:solidFill>
            <a:srgbClr val="0B6B6A"/>
          </a:solidFill>
          <a:ln/>
        </p:spPr>
        <p:txBody>
          <a:bodyPr/>
          <a:lstStyle/>
          <a:p>
            <a:endParaRPr lang="en-US"/>
          </a:p>
        </p:txBody>
      </p:sp>
      <p:sp>
        <p:nvSpPr>
          <p:cNvPr id="14" name="Text 12"/>
          <p:cNvSpPr/>
          <p:nvPr/>
        </p:nvSpPr>
        <p:spPr>
          <a:xfrm>
            <a:off x="812800" y="4906014"/>
            <a:ext cx="10566400" cy="703580"/>
          </a:xfrm>
          <a:prstGeom prst="roundRect">
            <a:avLst>
              <a:gd name="adj" fmla="val 14440"/>
            </a:avLst>
          </a:prstGeom>
          <a:solidFill>
            <a:srgbClr val="E3A72F"/>
          </a:solidFill>
          <a:ln/>
        </p:spPr>
        <p:txBody>
          <a:bodyPr wrap="square" lIns="249642" tIns="173442" rIns="0" bIns="148042" rtlCol="0" anchor="t">
            <a:normAutofit/>
          </a:bodyPr>
          <a:lstStyle/>
          <a:p>
            <a:pPr marL="0" indent="0" algn="l">
              <a:lnSpc>
                <a:spcPts val="2340"/>
              </a:lnSpc>
              <a:buNone/>
            </a:pPr>
            <a:r>
              <a:rPr lang="en-US" sz="1800" b="1" dirty="0">
                <a:solidFill>
                  <a:srgbClr val="14202F"/>
                </a:solidFill>
                <a:latin typeface="Public Sans" pitchFamily="34" charset="0"/>
                <a:ea typeface="Public Sans" pitchFamily="34" charset="-122"/>
                <a:cs typeface="Public Sans" pitchFamily="34" charset="-120"/>
              </a:rPr>
              <a:t>We chose XGBoost: missing an at-risk client costs more than a false alarm.</a:t>
            </a:r>
            <a:endParaRPr lang="en-US" sz="1800" dirty="0"/>
          </a:p>
        </p:txBody>
      </p:sp>
      <p:sp>
        <p:nvSpPr>
          <p:cNvPr id="15" name="Text 1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6" name="Text 14"/>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8 / 13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B6A"/>
                </a:solidFill>
                <a:latin typeface="Public Sans" pitchFamily="34" charset="0"/>
                <a:ea typeface="Public Sans" pitchFamily="34" charset="-122"/>
                <a:cs typeface="Public Sans" pitchFamily="34" charset="-120"/>
              </a:rPr>
              <a:t>RESULTS · SS2 PUBLIC DATA</a:t>
            </a:r>
            <a:endParaRPr lang="en-US" sz="1400" dirty="0"/>
          </a:p>
        </p:txBody>
      </p:sp>
      <p:sp>
        <p:nvSpPr>
          <p:cNvPr id="3" name="Text 1"/>
          <p:cNvSpPr>
            <a:spLocks noGrp="1"/>
          </p:cNvSpPr>
          <p:nvPr>
            <p:ph type="title"/>
          </p:nvPr>
        </p:nvSpPr>
        <p:spPr>
          <a:xfrm>
            <a:off x="812800" y="1264921"/>
            <a:ext cx="10883392" cy="843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XGBoost caught 107 of 114 at-risk portfolios; Logistic Regression caught 89</a:t>
            </a:r>
            <a:endParaRPr lang="en-US" sz="2800" dirty="0"/>
          </a:p>
        </p:txBody>
      </p:sp>
      <p:sp>
        <p:nvSpPr>
          <p:cNvPr id="4" name="Shape 2"/>
          <p:cNvSpPr/>
          <p:nvPr/>
        </p:nvSpPr>
        <p:spPr>
          <a:xfrm>
            <a:off x="812800" y="2286000"/>
            <a:ext cx="5651500" cy="3530600"/>
          </a:xfrm>
          <a:prstGeom prst="roundRect">
            <a:avLst>
              <a:gd name="adj" fmla="val 1439"/>
            </a:avLst>
          </a:prstGeom>
          <a:solidFill>
            <a:srgbClr val="FFFFFF"/>
          </a:solidFill>
          <a:ln/>
        </p:spPr>
        <p:txBody>
          <a:bodyPr/>
          <a:lstStyle/>
          <a:p>
            <a:endParaRPr lang="en-US"/>
          </a:p>
        </p:txBody>
      </p:sp>
      <p:pic>
        <p:nvPicPr>
          <p:cNvPr id="5" name="Image 0" descr="Bar chart comparing Logistic Regression and XGBoost on the SS2 test set across ROC-AUC, recall, precision and accuracy"/>
          <p:cNvPicPr>
            <a:picLocks noChangeAspect="1"/>
          </p:cNvPicPr>
          <p:nvPr/>
        </p:nvPicPr>
        <p:blipFill>
          <a:blip r:embed="rId3"/>
          <a:srcRect l="-90" r="-90"/>
          <a:stretch/>
        </p:blipFill>
        <p:spPr>
          <a:xfrm>
            <a:off x="819150" y="2292350"/>
            <a:ext cx="5638800" cy="3517900"/>
          </a:xfrm>
          <a:prstGeom prst="roundRect">
            <a:avLst>
              <a:gd name="adj" fmla="val 1264"/>
            </a:avLst>
          </a:prstGeom>
        </p:spPr>
      </p:pic>
      <p:sp>
        <p:nvSpPr>
          <p:cNvPr id="6" name="Shape 3"/>
          <p:cNvSpPr/>
          <p:nvPr/>
        </p:nvSpPr>
        <p:spPr>
          <a:xfrm>
            <a:off x="815975" y="2289175"/>
            <a:ext cx="5645150" cy="3524250"/>
          </a:xfrm>
          <a:prstGeom prst="roundRect">
            <a:avLst>
              <a:gd name="adj" fmla="val 1351"/>
            </a:avLst>
          </a:prstGeom>
          <a:noFill/>
          <a:ln w="6350">
            <a:solidFill>
              <a:srgbClr val="DDD8CB"/>
            </a:solidFill>
            <a:prstDash val="solid"/>
          </a:ln>
        </p:spPr>
        <p:txBody>
          <a:bodyPr/>
          <a:lstStyle/>
          <a:p>
            <a:endParaRPr lang="en-US"/>
          </a:p>
        </p:txBody>
      </p:sp>
      <p:sp>
        <p:nvSpPr>
          <p:cNvPr id="7" name="Shape 4"/>
          <p:cNvSpPr/>
          <p:nvPr/>
        </p:nvSpPr>
        <p:spPr>
          <a:xfrm>
            <a:off x="6721475" y="2289175"/>
            <a:ext cx="4654550" cy="999490"/>
          </a:xfrm>
          <a:prstGeom prst="roundRect">
            <a:avLst>
              <a:gd name="adj" fmla="val 9848"/>
            </a:avLst>
          </a:prstGeom>
          <a:solidFill>
            <a:srgbClr val="FBFAF6"/>
          </a:solidFill>
          <a:ln w="6350">
            <a:solidFill>
              <a:srgbClr val="DDD8CB"/>
            </a:solidFill>
            <a:prstDash val="solid"/>
          </a:ln>
        </p:spPr>
        <p:txBody>
          <a:bodyPr/>
          <a:lstStyle/>
          <a:p>
            <a:endParaRPr lang="en-US"/>
          </a:p>
        </p:txBody>
      </p:sp>
      <p:sp>
        <p:nvSpPr>
          <p:cNvPr id="8" name="Text 5"/>
          <p:cNvSpPr/>
          <p:nvPr/>
        </p:nvSpPr>
        <p:spPr>
          <a:xfrm>
            <a:off x="6901180" y="2418079"/>
            <a:ext cx="442399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F"/>
                </a:solidFill>
                <a:latin typeface="Libre Baskerville" pitchFamily="18" charset="0"/>
                <a:ea typeface="Libre Baskerville" pitchFamily="18" charset="-122"/>
                <a:cs typeface="Libre Baskerville" pitchFamily="18" charset="-120"/>
              </a:rPr>
              <a:t>Recall 0.94 vs 0.78</a:t>
            </a:r>
            <a:endParaRPr lang="en-US" sz="1500" dirty="0"/>
          </a:p>
        </p:txBody>
      </p:sp>
      <p:sp>
        <p:nvSpPr>
          <p:cNvPr id="9" name="Text 6"/>
          <p:cNvSpPr/>
          <p:nvPr/>
        </p:nvSpPr>
        <p:spPr>
          <a:xfrm>
            <a:off x="6901180" y="2697479"/>
            <a:ext cx="442399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XGBoost found 107 of 114 truly at-risk portfolios; Logistic Regression found 89.</a:t>
            </a:r>
            <a:endParaRPr lang="en-US" sz="1300" dirty="0"/>
          </a:p>
        </p:txBody>
      </p:sp>
      <p:sp>
        <p:nvSpPr>
          <p:cNvPr id="10" name="Shape 7"/>
          <p:cNvSpPr/>
          <p:nvPr/>
        </p:nvSpPr>
        <p:spPr>
          <a:xfrm>
            <a:off x="6721475" y="3396617"/>
            <a:ext cx="4654550" cy="999490"/>
          </a:xfrm>
          <a:prstGeom prst="roundRect">
            <a:avLst>
              <a:gd name="adj" fmla="val 9848"/>
            </a:avLst>
          </a:prstGeom>
          <a:solidFill>
            <a:srgbClr val="FBFAF6"/>
          </a:solidFill>
          <a:ln w="6350">
            <a:solidFill>
              <a:srgbClr val="DDD8CB"/>
            </a:solidFill>
            <a:prstDash val="solid"/>
          </a:ln>
        </p:spPr>
        <p:txBody>
          <a:bodyPr/>
          <a:lstStyle/>
          <a:p>
            <a:endParaRPr lang="en-US"/>
          </a:p>
        </p:txBody>
      </p:sp>
      <p:sp>
        <p:nvSpPr>
          <p:cNvPr id="11" name="Text 8"/>
          <p:cNvSpPr/>
          <p:nvPr/>
        </p:nvSpPr>
        <p:spPr>
          <a:xfrm>
            <a:off x="6901180" y="3525521"/>
            <a:ext cx="442399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F"/>
                </a:solidFill>
                <a:latin typeface="Libre Baskerville" pitchFamily="18" charset="0"/>
                <a:ea typeface="Libre Baskerville" pitchFamily="18" charset="-122"/>
                <a:cs typeface="Libre Baskerville" pitchFamily="18" charset="-120"/>
              </a:rPr>
              <a:t>Cost: more false alarms</a:t>
            </a:r>
            <a:endParaRPr lang="en-US" sz="1500" dirty="0"/>
          </a:p>
        </p:txBody>
      </p:sp>
      <p:sp>
        <p:nvSpPr>
          <p:cNvPr id="12" name="Text 9"/>
          <p:cNvSpPr/>
          <p:nvPr/>
        </p:nvSpPr>
        <p:spPr>
          <a:xfrm>
            <a:off x="6901180" y="3804921"/>
            <a:ext cx="442399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1,044 for XGBoost against 586, and precision 0.09 against 0.13.</a:t>
            </a:r>
            <a:endParaRPr lang="en-US" sz="1300" dirty="0"/>
          </a:p>
        </p:txBody>
      </p:sp>
      <p:sp>
        <p:nvSpPr>
          <p:cNvPr id="13" name="Shape 10"/>
          <p:cNvSpPr/>
          <p:nvPr/>
        </p:nvSpPr>
        <p:spPr>
          <a:xfrm>
            <a:off x="6721475" y="4504054"/>
            <a:ext cx="4654550" cy="999490"/>
          </a:xfrm>
          <a:prstGeom prst="roundRect">
            <a:avLst>
              <a:gd name="adj" fmla="val 9848"/>
            </a:avLst>
          </a:prstGeom>
          <a:solidFill>
            <a:srgbClr val="FBFAF6"/>
          </a:solidFill>
          <a:ln w="6350">
            <a:solidFill>
              <a:srgbClr val="DDD8CB"/>
            </a:solidFill>
            <a:prstDash val="solid"/>
          </a:ln>
        </p:spPr>
        <p:txBody>
          <a:bodyPr/>
          <a:lstStyle/>
          <a:p>
            <a:endParaRPr lang="en-US"/>
          </a:p>
        </p:txBody>
      </p:sp>
      <p:sp>
        <p:nvSpPr>
          <p:cNvPr id="14" name="Text 11"/>
          <p:cNvSpPr/>
          <p:nvPr/>
        </p:nvSpPr>
        <p:spPr>
          <a:xfrm>
            <a:off x="6901180" y="4632964"/>
            <a:ext cx="442399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02F"/>
                </a:solidFill>
                <a:latin typeface="Libre Baskerville" pitchFamily="18" charset="0"/>
                <a:ea typeface="Libre Baskerville" pitchFamily="18" charset="-122"/>
                <a:cs typeface="Libre Baskerville" pitchFamily="18" charset="-120"/>
              </a:rPr>
              <a:t>Ranking skill is a tie</a:t>
            </a:r>
            <a:endParaRPr lang="en-US" sz="1500" dirty="0"/>
          </a:p>
        </p:txBody>
      </p:sp>
      <p:sp>
        <p:nvSpPr>
          <p:cNvPr id="15" name="Text 12"/>
          <p:cNvSpPr/>
          <p:nvPr/>
        </p:nvSpPr>
        <p:spPr>
          <a:xfrm>
            <a:off x="6901180" y="4912364"/>
            <a:ext cx="442399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ROC-AUC 0.926 vs 0.921, not significant (DeLong p = 0.21).</a:t>
            </a:r>
            <a:endParaRPr lang="en-US" sz="1300" dirty="0"/>
          </a:p>
        </p:txBody>
      </p:sp>
      <p:sp>
        <p:nvSpPr>
          <p:cNvPr id="16" name="Text 1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7" name="Text 14"/>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9 / 13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B6A"/>
                </a:solidFill>
                <a:latin typeface="Public Sans" pitchFamily="34" charset="0"/>
                <a:ea typeface="Public Sans" pitchFamily="34" charset="-122"/>
                <a:cs typeface="Public Sans" pitchFamily="34" charset="-120"/>
              </a:rPr>
              <a:t>RESULTS · SS3 CLIENT DATA</a:t>
            </a:r>
            <a:endParaRPr lang="en-US" sz="1400" dirty="0"/>
          </a:p>
        </p:txBody>
      </p:sp>
      <p:sp>
        <p:nvSpPr>
          <p:cNvPr id="3" name="Text 1"/>
          <p:cNvSpPr>
            <a:spLocks noGrp="1"/>
          </p:cNvSpPr>
          <p:nvPr>
            <p:ph type="title"/>
          </p:nvPr>
        </p:nvSpPr>
        <p:spPr>
          <a:xfrm>
            <a:off x="812800" y="1264921"/>
            <a:ext cx="10883392" cy="843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The model caught 2 of 2 flagged clients, but a simple HHI rule does as well</a:t>
            </a:r>
            <a:endParaRPr lang="en-US" sz="2800" dirty="0"/>
          </a:p>
        </p:txBody>
      </p:sp>
      <p:sp>
        <p:nvSpPr>
          <p:cNvPr id="4" name="Shape 2"/>
          <p:cNvSpPr/>
          <p:nvPr/>
        </p:nvSpPr>
        <p:spPr>
          <a:xfrm>
            <a:off x="812800" y="2286000"/>
            <a:ext cx="3302000" cy="2914650"/>
          </a:xfrm>
          <a:prstGeom prst="roundRect">
            <a:avLst>
              <a:gd name="adj" fmla="val 1743"/>
            </a:avLst>
          </a:prstGeom>
          <a:solidFill>
            <a:srgbClr val="FFFFFF"/>
          </a:solidFill>
          <a:ln/>
        </p:spPr>
        <p:txBody>
          <a:bodyPr/>
          <a:lstStyle/>
          <a:p>
            <a:endParaRPr lang="en-US"/>
          </a:p>
        </p:txBody>
      </p:sp>
      <p:pic>
        <p:nvPicPr>
          <p:cNvPr id="5" name="Image 0" descr="ROC curves for training, validation and test sets"/>
          <p:cNvPicPr>
            <a:picLocks noChangeAspect="1"/>
          </p:cNvPicPr>
          <p:nvPr/>
        </p:nvPicPr>
        <p:blipFill>
          <a:blip r:embed="rId3"/>
          <a:srcRect l="-6" r="-6"/>
          <a:stretch/>
        </p:blipFill>
        <p:spPr>
          <a:xfrm>
            <a:off x="819150" y="2292350"/>
            <a:ext cx="3289300" cy="2901950"/>
          </a:xfrm>
          <a:prstGeom prst="roundRect">
            <a:avLst>
              <a:gd name="adj" fmla="val 1532"/>
            </a:avLst>
          </a:prstGeom>
        </p:spPr>
      </p:pic>
      <p:sp>
        <p:nvSpPr>
          <p:cNvPr id="6" name="Shape 3"/>
          <p:cNvSpPr/>
          <p:nvPr/>
        </p:nvSpPr>
        <p:spPr>
          <a:xfrm>
            <a:off x="815975" y="2289175"/>
            <a:ext cx="3295650" cy="2908300"/>
          </a:xfrm>
          <a:prstGeom prst="roundRect">
            <a:avLst>
              <a:gd name="adj" fmla="val 1638"/>
            </a:avLst>
          </a:prstGeom>
          <a:noFill/>
          <a:ln w="6350">
            <a:solidFill>
              <a:srgbClr val="DDD8CB"/>
            </a:solidFill>
            <a:prstDash val="solid"/>
          </a:ln>
        </p:spPr>
        <p:txBody>
          <a:bodyPr/>
          <a:lstStyle/>
          <a:p>
            <a:endParaRPr lang="en-US"/>
          </a:p>
        </p:txBody>
      </p:sp>
      <p:sp>
        <p:nvSpPr>
          <p:cNvPr id="7" name="Shape 4"/>
          <p:cNvSpPr/>
          <p:nvPr/>
        </p:nvSpPr>
        <p:spPr>
          <a:xfrm>
            <a:off x="4318000" y="2286000"/>
            <a:ext cx="3302000" cy="2863850"/>
          </a:xfrm>
          <a:prstGeom prst="roundRect">
            <a:avLst>
              <a:gd name="adj" fmla="val 1774"/>
            </a:avLst>
          </a:prstGeom>
          <a:solidFill>
            <a:srgbClr val="FFFFFF"/>
          </a:solidFill>
          <a:ln/>
        </p:spPr>
        <p:txBody>
          <a:bodyPr/>
          <a:lstStyle/>
          <a:p>
            <a:endParaRPr lang="en-US"/>
          </a:p>
        </p:txBody>
      </p:sp>
      <p:pic>
        <p:nvPicPr>
          <p:cNvPr id="8" name="Image 1" descr="Test set confusion matrix: 56 true negatives, 5 false positives, 0 missed, 2 caught"/>
          <p:cNvPicPr>
            <a:picLocks noChangeAspect="1"/>
          </p:cNvPicPr>
          <p:nvPr/>
        </p:nvPicPr>
        <p:blipFill>
          <a:blip r:embed="rId4"/>
          <a:srcRect l="-6" r="-6"/>
          <a:stretch/>
        </p:blipFill>
        <p:spPr>
          <a:xfrm>
            <a:off x="4324350" y="2292350"/>
            <a:ext cx="3289300" cy="2851150"/>
          </a:xfrm>
          <a:prstGeom prst="roundRect">
            <a:avLst>
              <a:gd name="adj" fmla="val 1559"/>
            </a:avLst>
          </a:prstGeom>
        </p:spPr>
      </p:pic>
      <p:sp>
        <p:nvSpPr>
          <p:cNvPr id="9" name="Shape 5"/>
          <p:cNvSpPr/>
          <p:nvPr/>
        </p:nvSpPr>
        <p:spPr>
          <a:xfrm>
            <a:off x="4321175" y="2289175"/>
            <a:ext cx="3295650" cy="2857500"/>
          </a:xfrm>
          <a:prstGeom prst="roundRect">
            <a:avLst>
              <a:gd name="adj" fmla="val 1667"/>
            </a:avLst>
          </a:prstGeom>
          <a:noFill/>
          <a:ln w="6350">
            <a:solidFill>
              <a:srgbClr val="DDD8CB"/>
            </a:solidFill>
            <a:prstDash val="solid"/>
          </a:ln>
        </p:spPr>
        <p:txBody>
          <a:bodyPr/>
          <a:lstStyle/>
          <a:p>
            <a:endParaRPr lang="en-US"/>
          </a:p>
        </p:txBody>
      </p:sp>
      <p:sp>
        <p:nvSpPr>
          <p:cNvPr id="10" name="Shape 6"/>
          <p:cNvSpPr/>
          <p:nvPr/>
        </p:nvSpPr>
        <p:spPr>
          <a:xfrm>
            <a:off x="7826375" y="2289175"/>
            <a:ext cx="3549650" cy="897890"/>
          </a:xfrm>
          <a:prstGeom prst="roundRect">
            <a:avLst>
              <a:gd name="adj" fmla="val 10962"/>
            </a:avLst>
          </a:prstGeom>
          <a:solidFill>
            <a:srgbClr val="FBFAF6"/>
          </a:solidFill>
          <a:ln w="6350">
            <a:solidFill>
              <a:srgbClr val="DDD8CB"/>
            </a:solidFill>
            <a:prstDash val="solid"/>
          </a:ln>
        </p:spPr>
        <p:txBody>
          <a:bodyPr/>
          <a:lstStyle/>
          <a:p>
            <a:endParaRPr lang="en-US"/>
          </a:p>
        </p:txBody>
      </p:sp>
      <p:sp>
        <p:nvSpPr>
          <p:cNvPr id="11" name="Text 7"/>
          <p:cNvSpPr/>
          <p:nvPr/>
        </p:nvSpPr>
        <p:spPr>
          <a:xfrm>
            <a:off x="7980680" y="2392679"/>
            <a:ext cx="333827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02F"/>
                </a:solidFill>
                <a:latin typeface="Libre Baskerville" pitchFamily="18" charset="0"/>
                <a:ea typeface="Libre Baskerville" pitchFamily="18" charset="-122"/>
                <a:cs typeface="Libre Baskerville" pitchFamily="18" charset="-120"/>
              </a:rPr>
              <a:t>Test: 2 of 2 caught</a:t>
            </a:r>
            <a:endParaRPr lang="en-US" sz="1400" dirty="0"/>
          </a:p>
        </p:txBody>
      </p:sp>
      <p:sp>
        <p:nvSpPr>
          <p:cNvPr id="12" name="Text 8"/>
          <p:cNvSpPr/>
          <p:nvPr/>
        </p:nvSpPr>
        <p:spPr>
          <a:xfrm>
            <a:off x="7980680" y="2656842"/>
            <a:ext cx="333827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ROC-AUC 0.951, with 5 false alarms among 61 other clients.</a:t>
            </a:r>
            <a:endParaRPr lang="en-US" sz="1200" dirty="0"/>
          </a:p>
        </p:txBody>
      </p:sp>
      <p:sp>
        <p:nvSpPr>
          <p:cNvPr id="13" name="Shape 9"/>
          <p:cNvSpPr/>
          <p:nvPr/>
        </p:nvSpPr>
        <p:spPr>
          <a:xfrm>
            <a:off x="7826375" y="3295017"/>
            <a:ext cx="3549650" cy="897890"/>
          </a:xfrm>
          <a:prstGeom prst="roundRect">
            <a:avLst>
              <a:gd name="adj" fmla="val 10962"/>
            </a:avLst>
          </a:prstGeom>
          <a:solidFill>
            <a:srgbClr val="FBFAF6"/>
          </a:solidFill>
          <a:ln w="6350">
            <a:solidFill>
              <a:srgbClr val="DDD8CB"/>
            </a:solidFill>
            <a:prstDash val="solid"/>
          </a:ln>
        </p:spPr>
        <p:txBody>
          <a:bodyPr/>
          <a:lstStyle/>
          <a:p>
            <a:endParaRPr lang="en-US"/>
          </a:p>
        </p:txBody>
      </p:sp>
      <p:sp>
        <p:nvSpPr>
          <p:cNvPr id="14" name="Text 10"/>
          <p:cNvSpPr/>
          <p:nvPr/>
        </p:nvSpPr>
        <p:spPr>
          <a:xfrm>
            <a:off x="7980680" y="3398521"/>
            <a:ext cx="333827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02F"/>
                </a:solidFill>
                <a:latin typeface="Libre Baskerville" pitchFamily="18" charset="0"/>
                <a:ea typeface="Libre Baskerville" pitchFamily="18" charset="-122"/>
                <a:cs typeface="Libre Baskerville" pitchFamily="18" charset="-120"/>
              </a:rPr>
              <a:t>Validation: 1 of 3</a:t>
            </a:r>
            <a:endParaRPr lang="en-US" sz="1400" dirty="0"/>
          </a:p>
        </p:txBody>
      </p:sp>
      <p:sp>
        <p:nvSpPr>
          <p:cNvPr id="15" name="Text 11"/>
          <p:cNvSpPr/>
          <p:nvPr/>
        </p:nvSpPr>
        <p:spPr>
          <a:xfrm>
            <a:off x="7980680" y="3662679"/>
            <a:ext cx="333827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ROC-AUC 0.856. With only 3 and 2 flagged clients, treat these as early signals.</a:t>
            </a:r>
            <a:endParaRPr lang="en-US" sz="1200" dirty="0"/>
          </a:p>
        </p:txBody>
      </p:sp>
      <p:sp>
        <p:nvSpPr>
          <p:cNvPr id="16" name="Text 12"/>
          <p:cNvSpPr/>
          <p:nvPr/>
        </p:nvSpPr>
        <p:spPr>
          <a:xfrm>
            <a:off x="7823200" y="4297679"/>
            <a:ext cx="3556000" cy="1145540"/>
          </a:xfrm>
          <a:prstGeom prst="roundRect">
            <a:avLst>
              <a:gd name="adj" fmla="val 8869"/>
            </a:avLst>
          </a:prstGeom>
          <a:solidFill>
            <a:srgbClr val="E3A72F"/>
          </a:solidFill>
          <a:ln/>
        </p:spPr>
        <p:txBody>
          <a:bodyPr wrap="square" lIns="122642" tIns="97242" rIns="25106" bIns="71842" rtlCol="0" anchor="t">
            <a:normAutofit/>
          </a:bodyPr>
          <a:lstStyle/>
          <a:p>
            <a:pPr marL="0" indent="0" algn="l">
              <a:lnSpc>
                <a:spcPts val="1755"/>
              </a:lnSpc>
              <a:buNone/>
            </a:pPr>
            <a:r>
              <a:rPr lang="en-US" sz="1300" b="1" dirty="0">
                <a:solidFill>
                  <a:srgbClr val="14202F"/>
                </a:solidFill>
                <a:latin typeface="Public Sans" pitchFamily="34" charset="0"/>
                <a:ea typeface="Public Sans" pitchFamily="34" charset="-122"/>
                <a:cs typeface="Public Sans" pitchFamily="34" charset="-120"/>
              </a:rPr>
              <a:t>A simple HHI rule does as well. Across all 418 clients, cross-validated ROC-AUC is 0.887 for the model and 0.895 for HHI alone.</a:t>
            </a:r>
            <a:endParaRPr lang="en-US" sz="1300" dirty="0"/>
          </a:p>
        </p:txBody>
      </p:sp>
      <p:sp>
        <p:nvSpPr>
          <p:cNvPr id="17" name="Text 1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8" name="Text 14"/>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10 / 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B6A"/>
                </a:solidFill>
                <a:latin typeface="Public Sans" pitchFamily="34" charset="0"/>
                <a:ea typeface="Public Sans" pitchFamily="34" charset="-122"/>
                <a:cs typeface="Public Sans" pitchFamily="34" charset="-120"/>
              </a:rPr>
              <a:t>RECOMMENDATIONS</a:t>
            </a:r>
            <a:endParaRPr lang="en-US" sz="1400" dirty="0"/>
          </a:p>
        </p:txBody>
      </p:sp>
      <p:sp>
        <p:nvSpPr>
          <p:cNvPr id="3" name="Text 1"/>
          <p:cNvSpPr>
            <a:spLocks noGrp="1"/>
          </p:cNvSpPr>
          <p:nvPr>
            <p:ph type="title"/>
          </p:nvPr>
        </p:nvSpPr>
        <p:spPr>
          <a:xfrm>
            <a:off x="812800" y="1264921"/>
            <a:ext cx="10883392" cy="843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Start with a simple rule, and use the model as a second opinion</a:t>
            </a:r>
            <a:endParaRPr lang="en-US" sz="2800" dirty="0"/>
          </a:p>
        </p:txBody>
      </p:sp>
      <p:sp>
        <p:nvSpPr>
          <p:cNvPr id="4" name="Shape 2"/>
          <p:cNvSpPr/>
          <p:nvPr/>
        </p:nvSpPr>
        <p:spPr>
          <a:xfrm>
            <a:off x="815975" y="2289175"/>
            <a:ext cx="5200650" cy="1517650"/>
          </a:xfrm>
          <a:prstGeom prst="roundRect">
            <a:avLst>
              <a:gd name="adj" fmla="val 6485"/>
            </a:avLst>
          </a:prstGeom>
          <a:solidFill>
            <a:srgbClr val="FBFAF6"/>
          </a:solidFill>
          <a:ln w="6350">
            <a:solidFill>
              <a:srgbClr val="DDD8CB"/>
            </a:solidFill>
            <a:prstDash val="solid"/>
          </a:ln>
        </p:spPr>
        <p:txBody>
          <a:bodyPr/>
          <a:lstStyle/>
          <a:p>
            <a:endParaRPr lang="en-US"/>
          </a:p>
        </p:txBody>
      </p:sp>
      <p:sp>
        <p:nvSpPr>
          <p:cNvPr id="5" name="Text 3"/>
          <p:cNvSpPr/>
          <p:nvPr/>
        </p:nvSpPr>
        <p:spPr>
          <a:xfrm>
            <a:off x="1021080" y="2494279"/>
            <a:ext cx="493415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01</a:t>
            </a:r>
            <a:endParaRPr lang="en-US" sz="1400" dirty="0"/>
          </a:p>
        </p:txBody>
      </p:sp>
      <p:sp>
        <p:nvSpPr>
          <p:cNvPr id="6" name="Text 4"/>
          <p:cNvSpPr/>
          <p:nvPr/>
        </p:nvSpPr>
        <p:spPr>
          <a:xfrm>
            <a:off x="1021080" y="2819400"/>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Start with a simple rule</a:t>
            </a:r>
            <a:endParaRPr lang="en-US" sz="1600" dirty="0"/>
          </a:p>
        </p:txBody>
      </p:sp>
      <p:sp>
        <p:nvSpPr>
          <p:cNvPr id="7" name="Text 5"/>
          <p:cNvSpPr/>
          <p:nvPr/>
        </p:nvSpPr>
        <p:spPr>
          <a:xfrm>
            <a:off x="1021080" y="3139442"/>
            <a:ext cx="493415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Review clients above the HHI threshold. It catches every flagged client and is easy to explain.</a:t>
            </a:r>
            <a:endParaRPr lang="en-US" sz="1300" dirty="0"/>
          </a:p>
        </p:txBody>
      </p:sp>
      <p:sp>
        <p:nvSpPr>
          <p:cNvPr id="8" name="Shape 6"/>
          <p:cNvSpPr/>
          <p:nvPr/>
        </p:nvSpPr>
        <p:spPr>
          <a:xfrm>
            <a:off x="6175375" y="2289175"/>
            <a:ext cx="5200650" cy="1517650"/>
          </a:xfrm>
          <a:prstGeom prst="roundRect">
            <a:avLst>
              <a:gd name="adj" fmla="val 6485"/>
            </a:avLst>
          </a:prstGeom>
          <a:solidFill>
            <a:srgbClr val="FBFAF6"/>
          </a:solidFill>
          <a:ln w="6350">
            <a:solidFill>
              <a:srgbClr val="DDD8CB"/>
            </a:solidFill>
            <a:prstDash val="solid"/>
          </a:ln>
        </p:spPr>
        <p:txBody>
          <a:bodyPr/>
          <a:lstStyle/>
          <a:p>
            <a:endParaRPr lang="en-US"/>
          </a:p>
        </p:txBody>
      </p:sp>
      <p:sp>
        <p:nvSpPr>
          <p:cNvPr id="9" name="Text 7"/>
          <p:cNvSpPr/>
          <p:nvPr/>
        </p:nvSpPr>
        <p:spPr>
          <a:xfrm>
            <a:off x="6380480" y="2494279"/>
            <a:ext cx="493415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02</a:t>
            </a:r>
            <a:endParaRPr lang="en-US" sz="1400" dirty="0"/>
          </a:p>
        </p:txBody>
      </p:sp>
      <p:sp>
        <p:nvSpPr>
          <p:cNvPr id="10" name="Text 8"/>
          <p:cNvSpPr/>
          <p:nvPr/>
        </p:nvSpPr>
        <p:spPr>
          <a:xfrm>
            <a:off x="6380480" y="2819400"/>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Model as a second opinion</a:t>
            </a:r>
            <a:endParaRPr lang="en-US" sz="1600" dirty="0"/>
          </a:p>
        </p:txBody>
      </p:sp>
      <p:sp>
        <p:nvSpPr>
          <p:cNvPr id="11" name="Text 9"/>
          <p:cNvSpPr/>
          <p:nvPr/>
        </p:nvSpPr>
        <p:spPr>
          <a:xfrm>
            <a:off x="6380480" y="3139442"/>
            <a:ext cx="493415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Use the model only to rank clients within that group, never as an automatic decision.</a:t>
            </a:r>
            <a:endParaRPr lang="en-US" sz="1300" dirty="0"/>
          </a:p>
        </p:txBody>
      </p:sp>
      <p:sp>
        <p:nvSpPr>
          <p:cNvPr id="12" name="Shape 10"/>
          <p:cNvSpPr/>
          <p:nvPr/>
        </p:nvSpPr>
        <p:spPr>
          <a:xfrm>
            <a:off x="815975" y="3965575"/>
            <a:ext cx="5200650" cy="1517650"/>
          </a:xfrm>
          <a:prstGeom prst="roundRect">
            <a:avLst>
              <a:gd name="adj" fmla="val 6485"/>
            </a:avLst>
          </a:prstGeom>
          <a:solidFill>
            <a:srgbClr val="FBFAF6"/>
          </a:solidFill>
          <a:ln w="6350">
            <a:solidFill>
              <a:srgbClr val="DDD8CB"/>
            </a:solidFill>
            <a:prstDash val="solid"/>
          </a:ln>
        </p:spPr>
        <p:txBody>
          <a:bodyPr/>
          <a:lstStyle/>
          <a:p>
            <a:endParaRPr lang="en-US"/>
          </a:p>
        </p:txBody>
      </p:sp>
      <p:sp>
        <p:nvSpPr>
          <p:cNvPr id="13" name="Text 11"/>
          <p:cNvSpPr/>
          <p:nvPr/>
        </p:nvSpPr>
        <p:spPr>
          <a:xfrm>
            <a:off x="1021080" y="4170679"/>
            <a:ext cx="493415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03</a:t>
            </a:r>
            <a:endParaRPr lang="en-US" sz="1400" dirty="0"/>
          </a:p>
        </p:txBody>
      </p:sp>
      <p:sp>
        <p:nvSpPr>
          <p:cNvPr id="14" name="Text 12"/>
          <p:cNvSpPr/>
          <p:nvPr/>
        </p:nvSpPr>
        <p:spPr>
          <a:xfrm>
            <a:off x="1021080" y="4495800"/>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Collect real outcomes</a:t>
            </a:r>
            <a:endParaRPr lang="en-US" sz="1600" dirty="0"/>
          </a:p>
        </p:txBody>
      </p:sp>
      <p:sp>
        <p:nvSpPr>
          <p:cNvPr id="15" name="Text 13"/>
          <p:cNvSpPr/>
          <p:nvPr/>
        </p:nvSpPr>
        <p:spPr>
          <a:xfrm>
            <a:off x="1021080" y="4815842"/>
            <a:ext cx="493415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Replace the business-defined label with losses or complaints, where a model can add value.</a:t>
            </a:r>
            <a:endParaRPr lang="en-US" sz="1300" dirty="0"/>
          </a:p>
        </p:txBody>
      </p:sp>
      <p:sp>
        <p:nvSpPr>
          <p:cNvPr id="16" name="Shape 14"/>
          <p:cNvSpPr/>
          <p:nvPr/>
        </p:nvSpPr>
        <p:spPr>
          <a:xfrm>
            <a:off x="6175375" y="3965575"/>
            <a:ext cx="5200650" cy="1517650"/>
          </a:xfrm>
          <a:prstGeom prst="roundRect">
            <a:avLst>
              <a:gd name="adj" fmla="val 6485"/>
            </a:avLst>
          </a:prstGeom>
          <a:solidFill>
            <a:srgbClr val="FBFAF6"/>
          </a:solidFill>
          <a:ln w="6350">
            <a:solidFill>
              <a:srgbClr val="DDD8CB"/>
            </a:solidFill>
            <a:prstDash val="solid"/>
          </a:ln>
        </p:spPr>
        <p:txBody>
          <a:bodyPr/>
          <a:lstStyle/>
          <a:p>
            <a:endParaRPr lang="en-US"/>
          </a:p>
        </p:txBody>
      </p:sp>
      <p:sp>
        <p:nvSpPr>
          <p:cNvPr id="17" name="Text 15"/>
          <p:cNvSpPr/>
          <p:nvPr/>
        </p:nvSpPr>
        <p:spPr>
          <a:xfrm>
            <a:off x="6380480" y="4170679"/>
            <a:ext cx="493415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B6A"/>
                </a:solidFill>
                <a:latin typeface="Public Sans" pitchFamily="34" charset="0"/>
                <a:ea typeface="Public Sans" pitchFamily="34" charset="-122"/>
                <a:cs typeface="Public Sans" pitchFamily="34" charset="-120"/>
              </a:rPr>
              <a:t>04</a:t>
            </a:r>
            <a:endParaRPr lang="en-US" sz="1400" dirty="0"/>
          </a:p>
        </p:txBody>
      </p:sp>
      <p:sp>
        <p:nvSpPr>
          <p:cNvPr id="18" name="Text 16"/>
          <p:cNvSpPr/>
          <p:nvPr/>
        </p:nvSpPr>
        <p:spPr>
          <a:xfrm>
            <a:off x="6380480" y="4495800"/>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02F"/>
                </a:solidFill>
                <a:latin typeface="Libre Baskerville" pitchFamily="18" charset="0"/>
                <a:ea typeface="Libre Baskerville" pitchFamily="18" charset="-122"/>
                <a:cs typeface="Libre Baskerville" pitchFamily="18" charset="-120"/>
              </a:rPr>
              <a:t>Guide before a loss</a:t>
            </a:r>
            <a:endParaRPr lang="en-US" sz="1600" dirty="0"/>
          </a:p>
        </p:txBody>
      </p:sp>
      <p:sp>
        <p:nvSpPr>
          <p:cNvPr id="19" name="Text 17"/>
          <p:cNvSpPr/>
          <p:nvPr/>
        </p:nvSpPr>
        <p:spPr>
          <a:xfrm>
            <a:off x="6380480" y="4815842"/>
            <a:ext cx="493415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Public Sans" pitchFamily="34" charset="0"/>
                <a:ea typeface="Public Sans" pitchFamily="34" charset="-122"/>
                <a:cs typeface="Public Sans" pitchFamily="34" charset="-120"/>
              </a:rPr>
              <a:t>Offer a diversification prompt or a call, and agree thresholds with the business.</a:t>
            </a:r>
            <a:endParaRPr lang="en-US" sz="1300" dirty="0"/>
          </a:p>
        </p:txBody>
      </p:sp>
      <p:sp>
        <p:nvSpPr>
          <p:cNvPr id="20" name="Text 1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21" name="Text 19"/>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11 / 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B6B6A"/>
                </a:solidFill>
                <a:latin typeface="Public Sans" pitchFamily="34" charset="0"/>
                <a:ea typeface="Public Sans" pitchFamily="34" charset="-122"/>
                <a:cs typeface="Public Sans" pitchFamily="34" charset="-120"/>
              </a:rPr>
              <a:t>LIMITATIONS</a:t>
            </a:r>
            <a:endParaRPr lang="en-US" sz="1400" dirty="0"/>
          </a:p>
        </p:txBody>
      </p:sp>
      <p:sp>
        <p:nvSpPr>
          <p:cNvPr id="3" name="Text 1"/>
          <p:cNvSpPr>
            <a:spLocks noGrp="1"/>
          </p:cNvSpPr>
          <p:nvPr>
            <p:ph type="title"/>
          </p:nvPr>
        </p:nvSpPr>
        <p:spPr>
          <a:xfrm>
            <a:off x="812800" y="126492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02F"/>
                </a:solidFill>
                <a:latin typeface="Libre Baskerville" pitchFamily="18" charset="0"/>
                <a:ea typeface="Libre Baskerville" pitchFamily="18" charset="-122"/>
                <a:cs typeface="Libre Baskerville" pitchFamily="18" charset="-120"/>
              </a:rPr>
              <a:t>What the results can and cannot tell us</a:t>
            </a:r>
            <a:endParaRPr lang="en-US" sz="2800" dirty="0"/>
          </a:p>
        </p:txBody>
      </p:sp>
      <p:sp>
        <p:nvSpPr>
          <p:cNvPr id="4" name="Shape 2"/>
          <p:cNvSpPr/>
          <p:nvPr/>
        </p:nvSpPr>
        <p:spPr>
          <a:xfrm>
            <a:off x="815975" y="1880239"/>
            <a:ext cx="5200650" cy="2434590"/>
          </a:xfrm>
          <a:prstGeom prst="roundRect">
            <a:avLst>
              <a:gd name="adj" fmla="val 4043"/>
            </a:avLst>
          </a:prstGeom>
          <a:solidFill>
            <a:srgbClr val="FBFAF6"/>
          </a:solidFill>
          <a:ln w="6350">
            <a:solidFill>
              <a:srgbClr val="DDD8CB"/>
            </a:solidFill>
            <a:prstDash val="solid"/>
          </a:ln>
        </p:spPr>
        <p:txBody>
          <a:bodyPr/>
          <a:lstStyle/>
          <a:p>
            <a:endParaRPr lang="en-US"/>
          </a:p>
        </p:txBody>
      </p:sp>
      <p:sp>
        <p:nvSpPr>
          <p:cNvPr id="5" name="Text 3"/>
          <p:cNvSpPr/>
          <p:nvPr/>
        </p:nvSpPr>
        <p:spPr>
          <a:xfrm>
            <a:off x="1071880" y="2136142"/>
            <a:ext cx="482950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Data</a:t>
            </a:r>
            <a:endParaRPr lang="en-US" sz="1800" dirty="0"/>
          </a:p>
        </p:txBody>
      </p:sp>
      <p:sp>
        <p:nvSpPr>
          <p:cNvPr id="6" name="Text 4"/>
          <p:cNvSpPr/>
          <p:nvPr/>
        </p:nvSpPr>
        <p:spPr>
          <a:xfrm>
            <a:off x="1156462" y="2512064"/>
            <a:ext cx="4737303" cy="105664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The client extract is synthetic and small: 3 and 2 flagged clients in validation and test.</a:t>
            </a:r>
            <a:endParaRPr lang="en-US" sz="1400" dirty="0"/>
          </a:p>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SEC 13F data describes institutions, not retail clients.</a:t>
            </a:r>
            <a:endParaRPr lang="en-US" sz="1400" dirty="0"/>
          </a:p>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42.5% of matched tickers had no price history.</a:t>
            </a:r>
            <a:endParaRPr lang="en-US" sz="1400" dirty="0"/>
          </a:p>
        </p:txBody>
      </p:sp>
      <p:sp>
        <p:nvSpPr>
          <p:cNvPr id="7" name="Shape 5"/>
          <p:cNvSpPr/>
          <p:nvPr/>
        </p:nvSpPr>
        <p:spPr>
          <a:xfrm>
            <a:off x="6175375" y="1880239"/>
            <a:ext cx="5200650" cy="2434590"/>
          </a:xfrm>
          <a:prstGeom prst="roundRect">
            <a:avLst>
              <a:gd name="adj" fmla="val 4043"/>
            </a:avLst>
          </a:prstGeom>
          <a:solidFill>
            <a:srgbClr val="FBFAF6"/>
          </a:solidFill>
          <a:ln w="6350">
            <a:solidFill>
              <a:srgbClr val="DDD8CB"/>
            </a:solidFill>
            <a:prstDash val="solid"/>
          </a:ln>
        </p:spPr>
        <p:txBody>
          <a:bodyPr/>
          <a:lstStyle/>
          <a:p>
            <a:endParaRPr lang="en-US"/>
          </a:p>
        </p:txBody>
      </p:sp>
      <p:sp>
        <p:nvSpPr>
          <p:cNvPr id="8" name="Text 6"/>
          <p:cNvSpPr/>
          <p:nvPr/>
        </p:nvSpPr>
        <p:spPr>
          <a:xfrm>
            <a:off x="6431280" y="2136142"/>
            <a:ext cx="482950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02F"/>
                </a:solidFill>
                <a:latin typeface="Libre Baskerville" pitchFamily="18" charset="0"/>
                <a:ea typeface="Libre Baskerville" pitchFamily="18" charset="-122"/>
                <a:cs typeface="Libre Baskerville" pitchFamily="18" charset="-120"/>
              </a:rPr>
              <a:t>Method</a:t>
            </a:r>
            <a:endParaRPr lang="en-US" sz="1800" dirty="0"/>
          </a:p>
        </p:txBody>
      </p:sp>
      <p:sp>
        <p:nvSpPr>
          <p:cNvPr id="9" name="Text 7"/>
          <p:cNvSpPr/>
          <p:nvPr/>
        </p:nvSpPr>
        <p:spPr>
          <a:xfrm>
            <a:off x="6515862" y="2512064"/>
            <a:ext cx="4737303" cy="157226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HHI is both a feature and half of the SS3 flag, so a high ROC-AUC partly reflects how the flag is built.</a:t>
            </a:r>
            <a:endParaRPr lang="en-US" sz="1400" dirty="0"/>
          </a:p>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Complaints did not validate the flag, so it is a business rule.</a:t>
            </a:r>
            <a:endParaRPr lang="en-US" sz="1400" dirty="0"/>
          </a:p>
          <a:p>
            <a:pPr marL="169418" indent="-169418" algn="l">
              <a:lnSpc>
                <a:spcPts val="2030"/>
              </a:lnSpc>
              <a:buSzPct val="100000"/>
              <a:buChar char="•"/>
            </a:pPr>
            <a:r>
              <a:rPr lang="en-US" sz="1400" dirty="0">
                <a:solidFill>
                  <a:srgbClr val="4A5568"/>
                </a:solidFill>
                <a:latin typeface="Public Sans" pitchFamily="34" charset="0"/>
                <a:ea typeface="Public Sans" pitchFamily="34" charset="-122"/>
                <a:cs typeface="Public Sans" pitchFamily="34" charset="-120"/>
              </a:rPr>
              <a:t>SS2 cross-validation folds were not chronological, and the test set informed some choices.</a:t>
            </a:r>
            <a:endParaRPr lang="en-US" sz="1400" dirty="0"/>
          </a:p>
        </p:txBody>
      </p:sp>
      <p:sp>
        <p:nvSpPr>
          <p:cNvPr id="10" name="Text 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11" name="Text 9"/>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12 / 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6FD0CB"/>
                </a:solidFill>
                <a:latin typeface="Public Sans" pitchFamily="34" charset="0"/>
                <a:ea typeface="Public Sans" pitchFamily="34" charset="-122"/>
                <a:cs typeface="Public Sans" pitchFamily="34" charset="-120"/>
              </a:rPr>
              <a:t>CONCLUSION</a:t>
            </a:r>
            <a:endParaRPr lang="en-US" sz="1400" dirty="0"/>
          </a:p>
        </p:txBody>
      </p:sp>
      <p:sp>
        <p:nvSpPr>
          <p:cNvPr id="3" name="Text 1"/>
          <p:cNvSpPr>
            <a:spLocks noGrp="1"/>
          </p:cNvSpPr>
          <p:nvPr>
            <p:ph type="title"/>
          </p:nvPr>
        </p:nvSpPr>
        <p:spPr>
          <a:xfrm>
            <a:off x="812800" y="1264921"/>
            <a:ext cx="10883392" cy="55118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2EFE7"/>
                </a:solidFill>
                <a:latin typeface="Libre Baskerville" pitchFamily="18" charset="0"/>
                <a:ea typeface="Libre Baskerville" pitchFamily="18" charset="-122"/>
                <a:cs typeface="Libre Baskerville" pitchFamily="18" charset="-120"/>
              </a:rPr>
              <a:t>What this study adds</a:t>
            </a:r>
            <a:endParaRPr lang="en-US" sz="3600" dirty="0"/>
          </a:p>
        </p:txBody>
      </p:sp>
      <p:sp>
        <p:nvSpPr>
          <p:cNvPr id="4" name="Text 2"/>
          <p:cNvSpPr/>
          <p:nvPr/>
        </p:nvSpPr>
        <p:spPr>
          <a:xfrm>
            <a:off x="855472" y="1993900"/>
            <a:ext cx="10833100" cy="1183640"/>
          </a:xfrm>
          <a:prstGeom prst="rect">
            <a:avLst/>
          </a:prstGeom>
          <a:noFill/>
          <a:ln/>
        </p:spPr>
        <p:txBody>
          <a:bodyPr wrap="square" lIns="0" tIns="0" rIns="0" bIns="0" rtlCol="0" anchor="t">
            <a:normAutofit/>
          </a:bodyPr>
          <a:lstStyle/>
          <a:p>
            <a:pPr marL="211328" indent="-211328" algn="l">
              <a:lnSpc>
                <a:spcPts val="3040"/>
              </a:lnSpc>
              <a:buSzPct val="100000"/>
              <a:buChar char="•"/>
            </a:pPr>
            <a:r>
              <a:rPr lang="en-US" sz="1900" dirty="0">
                <a:solidFill>
                  <a:srgbClr val="F2EFE7"/>
                </a:solidFill>
                <a:latin typeface="Public Sans" pitchFamily="34" charset="0"/>
                <a:ea typeface="Public Sans" pitchFamily="34" charset="-122"/>
                <a:cs typeface="Public Sans" pitchFamily="34" charset="-120"/>
              </a:rPr>
              <a:t>A problem framed with the client</a:t>
            </a:r>
            <a:endParaRPr lang="en-US" sz="1900" dirty="0"/>
          </a:p>
          <a:p>
            <a:pPr marL="211328" indent="-211328" algn="l">
              <a:lnSpc>
                <a:spcPts val="3040"/>
              </a:lnSpc>
              <a:buSzPct val="100000"/>
              <a:buChar char="•"/>
            </a:pPr>
            <a:r>
              <a:rPr lang="en-US" sz="1900" dirty="0">
                <a:solidFill>
                  <a:srgbClr val="F2EFE7"/>
                </a:solidFill>
                <a:latin typeface="Public Sans" pitchFamily="34" charset="0"/>
                <a:ea typeface="Public Sans" pitchFamily="34" charset="-122"/>
                <a:cs typeface="Public Sans" pitchFamily="34" charset="-120"/>
              </a:rPr>
              <a:t>A model chosen on evidence from public data</a:t>
            </a:r>
            <a:endParaRPr lang="en-US" sz="1900" dirty="0"/>
          </a:p>
          <a:p>
            <a:pPr marL="211328" indent="-211328" algn="l">
              <a:lnSpc>
                <a:spcPts val="3040"/>
              </a:lnSpc>
              <a:buSzPct val="100000"/>
              <a:buChar char="•"/>
            </a:pPr>
            <a:r>
              <a:rPr lang="en-US" sz="1900" dirty="0">
                <a:solidFill>
                  <a:srgbClr val="F2EFE7"/>
                </a:solidFill>
                <a:latin typeface="Public Sans" pitchFamily="34" charset="0"/>
                <a:ea typeface="Public Sans" pitchFamily="34" charset="-122"/>
                <a:cs typeface="Public Sans" pitchFamily="34" charset="-120"/>
              </a:rPr>
              <a:t>An early, honest test on client data, with its limits stated</a:t>
            </a:r>
            <a:endParaRPr lang="en-US" sz="1900" dirty="0"/>
          </a:p>
        </p:txBody>
      </p:sp>
      <p:sp>
        <p:nvSpPr>
          <p:cNvPr id="5" name="Text 3"/>
          <p:cNvSpPr/>
          <p:nvPr/>
        </p:nvSpPr>
        <p:spPr>
          <a:xfrm>
            <a:off x="812800" y="3355342"/>
            <a:ext cx="1708727" cy="736600"/>
          </a:xfrm>
          <a:prstGeom prst="roundRect">
            <a:avLst>
              <a:gd name="adj" fmla="val 13793"/>
            </a:avLst>
          </a:prstGeom>
          <a:solidFill>
            <a:srgbClr val="E3A72F"/>
          </a:solidFill>
          <a:ln/>
        </p:spPr>
        <p:txBody>
          <a:bodyPr wrap="square" lIns="249642" tIns="173442" rIns="0" bIns="148042" rtlCol="0" anchor="t">
            <a:normAutofit/>
          </a:bodyPr>
          <a:lstStyle/>
          <a:p>
            <a:pPr marL="0" indent="0" algn="l">
              <a:lnSpc>
                <a:spcPts val="2600"/>
              </a:lnSpc>
              <a:buNone/>
            </a:pPr>
            <a:r>
              <a:rPr lang="en-US" sz="2000" b="1" dirty="0">
                <a:solidFill>
                  <a:srgbClr val="14202F"/>
                </a:solidFill>
                <a:latin typeface="Public Sans" pitchFamily="34" charset="0"/>
                <a:ea typeface="Public Sans" pitchFamily="34" charset="-122"/>
                <a:cs typeface="Public Sans" pitchFamily="34" charset="-120"/>
              </a:rPr>
              <a:t>Thank you.</a:t>
            </a:r>
            <a:endParaRPr lang="en-US" sz="2000" dirty="0"/>
          </a:p>
        </p:txBody>
      </p:sp>
      <p:sp>
        <p:nvSpPr>
          <p:cNvPr id="6" name="Text 4"/>
          <p:cNvSpPr/>
          <p:nvPr/>
        </p:nvSpPr>
        <p:spPr>
          <a:xfrm>
            <a:off x="812800" y="429514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FD8"/>
                </a:solidFill>
                <a:latin typeface="Public Sans" pitchFamily="34" charset="0"/>
                <a:ea typeface="Public Sans" pitchFamily="34" charset="-122"/>
                <a:cs typeface="Public Sans" pitchFamily="34" charset="-120"/>
              </a:rPr>
              <a:t>Code and documentation: github.com/GopolangMmutlwaneCaptone/Risk-Concentration-Flagging</a:t>
            </a:r>
            <a:endParaRPr lang="en-US" sz="1400" dirty="0"/>
          </a:p>
        </p:txBody>
      </p:sp>
      <p:sp>
        <p:nvSpPr>
          <p:cNvPr id="7" name="Text 5"/>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FD8"/>
                </a:solidFill>
                <a:latin typeface="Public Sans" pitchFamily="34" charset="0"/>
                <a:ea typeface="Public Sans" pitchFamily="34" charset="-122"/>
                <a:cs typeface="Public Sans" pitchFamily="34" charset="-120"/>
              </a:rPr>
              <a:t>Risk Concentration Flagging · STADIOEquities · CAP182</a:t>
            </a:r>
            <a:endParaRPr lang="en-US" sz="1200" dirty="0"/>
          </a:p>
        </p:txBody>
      </p:sp>
      <p:sp>
        <p:nvSpPr>
          <p:cNvPr id="8" name="Text 6"/>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9CFD8"/>
                </a:solidFill>
                <a:latin typeface="Public Sans" pitchFamily="34" charset="0"/>
                <a:ea typeface="Public Sans" pitchFamily="34" charset="-122"/>
                <a:cs typeface="Public Sans" pitchFamily="34" charset="-120"/>
              </a:rPr>
              <a:t>13 / 13</a:t>
            </a:r>
            <a:endParaRPr lang="en-US" sz="1200" dirty="0"/>
          </a:p>
        </p:txBody>
      </p:sp>
    </p:spTree>
  </p:cSld>
  <p:clrMapOvr>
    <a:masterClrMapping/>
  </p:clrMapOvr>
</p:sld>
</file>

<file path=ppt/theme/theme1.xml><?xml version="1.0" encoding="utf-8"?>
<a:theme xmlns:a="http://schemas.openxmlformats.org/drawingml/2006/main" name="Risk Concentration Flagging: Capstone Video Deck">
  <a:themeElements>
    <a:clrScheme name="Risk Concentration Flagging: Capstone Video Deck">
      <a:dk1>
        <a:srgbClr val="14202F"/>
      </a:dk1>
      <a:lt1>
        <a:srgbClr val="F6F4EE"/>
      </a:lt1>
      <a:dk2>
        <a:srgbClr val="4D555F"/>
      </a:dk2>
      <a:lt2>
        <a:srgbClr val="DFDFDB"/>
      </a:lt2>
      <a:accent1>
        <a:srgbClr val="0B6B6A"/>
      </a:accent1>
      <a:accent2>
        <a:srgbClr val="E3A72F"/>
      </a:accent2>
      <a:accent3>
        <a:srgbClr val="6FD0CB"/>
      </a:accent3>
      <a:accent4>
        <a:srgbClr val="4A5568"/>
      </a:accent4>
      <a:accent5>
        <a:srgbClr val="C9CFD8"/>
      </a:accent5>
      <a:accent6>
        <a:srgbClr val="AEBBCB"/>
      </a:accent6>
      <a:hlink>
        <a:srgbClr val="0563C1"/>
      </a:hlink>
      <a:folHlink>
        <a:srgbClr val="954F72"/>
      </a:folHlink>
    </a:clrScheme>
    <a:fontScheme name="Risk Concentration Flagging: Capstone Video Deck">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1110</TotalTime>
  <Words>4114</Words>
  <Application>Microsoft Office PowerPoint</Application>
  <PresentationFormat>Widescreen</PresentationFormat>
  <Paragraphs>195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Libre Baskerville</vt:lpstr>
      <vt:lpstr>Public Sans</vt:lpstr>
      <vt:lpstr>Risk Concentration Flagging: Capstone Video Deck</vt:lpstr>
      <vt:lpstr>Flagging client portfolio concentration risk before it becomes a loss</vt:lpstr>
      <vt:lpstr>Clients learn they were over-concentrated only after they lose money</vt:lpstr>
      <vt:lpstr>Three stages, one question: can concentration risk be flagged early?</vt:lpstr>
      <vt:lpstr>Two datasets: a public proxy first, then the client extract</vt:lpstr>
      <vt:lpstr>What we cleaned, and why it matters</vt:lpstr>
      <vt:lpstr>The maths behind the flag, in three lines</vt:lpstr>
      <vt:lpstr>Who gets flagged, and what the data does not show</vt:lpstr>
      <vt:lpstr>Two models, compared on the same time-based test</vt:lpstr>
      <vt:lpstr>XGBoost caught 107 of 114 at-risk portfolios; Logistic Regression caught 89</vt:lpstr>
      <vt:lpstr>The model caught 2 of 2 flagged clients, but a simple HHI rule does as well</vt:lpstr>
      <vt:lpstr>Start with a simple rule, and use the model as a second opinion</vt:lpstr>
      <vt:lpstr>What the results can and cannot tell us</vt:lpstr>
      <vt:lpstr>What this study adds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Concentration Flagging: Capstone Video Deck</dc:title>
  <dc:subject/>
  <dc:creator/>
  <cp:lastModifiedBy>GOPOLANG MMUTLWANE</cp:lastModifiedBy>
  <cp:revision>3</cp:revision>
  <dcterms:created xsi:type="dcterms:W3CDTF">2026-10-15T20:06:23Z</dcterms:created>
  <dcterms:modified xsi:type="dcterms:W3CDTF">2026-10-26T14:18:28Z</dcterms:modified>
</cp:coreProperties>
</file>